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64"/>
    <p:restoredTop sz="94718"/>
  </p:normalViewPr>
  <p:slideViewPr>
    <p:cSldViewPr snapToGrid="0">
      <p:cViewPr varScale="1">
        <p:scale>
          <a:sx n="138" d="100"/>
          <a:sy n="138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" name="Shape 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本方案面向服务器大规模 MoE decode。专家连续性为请求分组与本地复用提供依据。专利焦点是加速器内一个小模块，持续维护请求需求与专家驻留的动态匹配。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来源：https://github.com/deepseek-ai/DeepEP/blob/v1.2.1/README.md#performance</a:t>
            </a:r>
          </a:p>
          <a:p>
            <a:r>
              <a:t>项目验证报告《moe_0814》第4.4节。连续性证据为Top-1小模型，不宣称已实测大规模Top-8。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3" name="Shape 11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本页比较代表性公开架构及其软件接口，不将某一型号代表整个硬件类别。能力差距是功能组合和硬件连接层面的判断，不是硬件绝对不能执行，也不是新颖性结论。</a:t>
            </a:r>
          </a:p>
          <a:p>
            <a:r>
              <a:t>GPU：NCCL/GPUNetIO 已有设备自主网络路径，不能将无需CPU逐次传输作为本方案独占能力。本方案进一步连接真实专家需求、驻留差分、去重复制、就绪唤醒和结果校验。</a:t>
            </a:r>
          </a:p>
          <a:p>
            <a:r>
              <a:t>NPU：本图为CANN 8.0文档中的AI Core架构示意，MTE对应核内/存储搬运，不将其等同于跨节点网络引擎。</a:t>
            </a:r>
          </a:p>
          <a:p>
            <a:r>
              <a:t>TPU：使用TPU v4代表性芯片图，TensorCore计算和ICI互联能力不等同于专家需求驱动的专用驻留管理。</a:t>
            </a:r>
          </a:p>
          <a:p>
            <a:r>
              <a:t>[1] NVIDIA, How DOCA GPUNetIO Unifies GPU-Initiated Networking Across the NVIDIA Software Stack, 2026-10-06，Figure 3</a:t>
            </a:r>
          </a:p>
          <a:p>
            <a:r>
              <a:t>https://developer.nvidia.com/blog/doca-gpunetio-gda-ki-unified-gpu-networking</a:t>
            </a:r>
          </a:p>
          <a:p>
            <a:r>
              <a:t>图：https://developer-blogs.nvidia.com/wp-content/uploads/2026/10/image11.webp</a:t>
            </a:r>
          </a:p>
          <a:p>
            <a:r>
              <a:t>[2] 昇腾 CANN 8.0 AI Core，Figure 1</a:t>
            </a:r>
          </a:p>
          <a:p>
            <a:r>
              <a:t>https://www.hiascend.com/doc_center/source/en/canncommercial/800/opdevg/tbeaicpudevg/atlasopdev_10_0008.html</a:t>
            </a:r>
          </a:p>
          <a:p>
            <a:r>
              <a:t>图：同目录figure/en-us_image_0000002128158984.png</a:t>
            </a:r>
          </a:p>
          <a:p>
            <a:r>
              <a:t>[3] Google Cloud, TPU v4, System architecture</a:t>
            </a:r>
          </a:p>
          <a:p>
            <a:r>
              <a:t>https://docs.cloud.google.com/tpu/docs/v4?hl=en</a:t>
            </a:r>
          </a:p>
          <a:p>
            <a:r>
              <a:t>https://docs.cloud.google.com/tpu/docs/system-architecture-tpu-vm</a:t>
            </a:r>
          </a:p>
          <a:p>
            <a:r>
              <a:t>图：https://docs.cloud.google.com/static/tpu/docs/images/tpu-v4-layout.png</a:t>
            </a:r>
          </a:p>
          <a:p>
            <a:r>
              <a:t>资料核验：2026-10-14。官方原图按比例嵌入，PowerPoint以灰度效果显示，原图像素保留。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3" name="Shape 1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图为硬件结构示意，框表示硬件或存储边界，连线表示互连和访问接口，不表示时间步骤。GPU/加速器设备边界包含主计算阵列、新增旁路模块、片上互连、HBM和传输接口。HBM为设备存储，不将其等同于计算芯片内SRAM。新增模块含独立gate、小型状态SRAM及差分控制。网络适配器对接远端GPU HBM。CPU负责初始化及低频配置，正常路径由模块驱动。真实gate权重和结果有效性继续控制提交。Prefill后请求聚类建立初始条件。各层分别维护状态，图中未采用仅当前层活跃的假设。硬件容量及性能估算不变，实施例在后续三页展开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4" name="Shape 18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具体实施例：四节点同层专家池128，Top-8。此页仅展示节点A与一个请求组。P→D已有KV交接，本方案增加亲和性摘要、匹配和专家准备成本。首个decode步无历史选择时按真实gate执行。来源：https://docs.nvidia.com/dynamo/dev/knowledge-base/concepts/system-architecture/disaggregated-serving</a:t>
            </a:r>
          </a:p>
          <a:p>
            <a:r>
              <a:t>专家激活原图来源：用户提供的 phd-intro.pptx 第13页。Oracle-MoE既有训练的专家激活轨迹，用于说明连续性，不作为128专家Top-8覆盖率的直接测量依据。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5" name="Shape 20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主阵列始终计算当前token的新输入，不复用上一个token的输出。真实ID相同也必须使用本轮gate权重。对于真实集合新增但已驻留成员，需要补齐本轮贡献，无权重复制。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6" name="Shape 22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当前本地常用集合为1–10，另有空闲更新槽。Q1真实集合变为1–7、11。模块不撤销有效1–7贡献，弃用8的结果。组内需要11的请求合并为一次复制。权重来源为集群远端HBM，源副本保持有效。到达后确认版本/内存可见性，再发布驻留和唤醒。本轮贡献齐备后按真实权重提交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假设与来源：模型规模为模拟配置。DGX H100 配置：https://docs.nvidia.com/dgx/dgxh100-user-guide/dgxh100-user-guide.pdf 。DeepEP 实测：https://github.com/deepseek-ai/DeepEP/blob/v1.2.1/README.md#performance 。节点网络200 GB/s为有效聚合带宽假设。Decode重叠机制：https://github.com/deepseek-ai/profile-data#decoding ，50%非实测。PCIe参考：https://pcisig.com/what-bit-rate-pcie-60-specification-how-does-it-compare-previous-generations-pcie-technology ，本地50 GB/s/卡及200 GB/s节点供数上限为独立工程假设。专家覆盖与复用为目标假设。GEMM依据：https://github.com/deepseek-ai/profile-data/blob/main/decode.json ，正常两层专家GEMM外推0.944ms，5%额外执行0.0472ms。共同成本2.160ms含正常计算及本地通信1.900ms、Gate0.100ms、阶段衔接0.160ms。DDR预置两层全部专家约10.5 GiB，部署准备不计入Decode窗口。至少95%全本地请求由非负整数远程目标数均值0.05推出，不等同于专家命中率。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曲线为模拟结果。h为通信隐藏比例。Tb=2.1600+0.88080384*(1-h) ms；Tp=2.1600+0.022020096*(1-h)+0.18318644 ms；阶段能力提升=Tb/Tp-1。h=50%时Tb=2.60040192，Tp=2.354196488，提升10.45815%。h=0/25/75/100%时收益为28.564/19.532/1.342/-7.818%。收支平衡h=78.669%。两侧剩余token通信采用相同隐藏比例，专家补载完整计费，其他成本固定。这是单参数敏感性分析，不等同于实际系统调度仿真。</a:t>
            </a:r>
          </a:p>
          <a:p>
            <a:r>
              <a:t>EP原始时间=2层*2048请求*平均远程节点数*21504 B/200e9 B/s。21504=7168*(FP8输入1B+BF16返回2B)。远程目标节点数2.0变为0.05，网络载荷下降97.5%，不含PP或DDR本地搬运。</a:t>
            </a:r>
          </a:p>
          <a:p>
            <a:r>
              <a:t>单专家44050944B。tDDR(k)=max(k*44050944/200e9,ceil(k/8)*44050944/50e9)。tDDR(10)=2.2025472ms，tDDR(2)=0.88101888ms。两层初载及增量复制摊销64步：(2*tDDR(10)+2*tDDR(2))/64=0.09636144ms。分组1/64=0.015625ms，额外专家计算0.944*5%=0.0472ms，控制0.004ms，排队0.020ms。共0.18318644ms。Gate两侧完整计入，不计额外隐藏收益。来源与假设见第8页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2" name="Shape 25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本页为拟保护技术组合，具体主从项由代理人结合公开文本核验。Prefill聚类和冗余槽为适用场景或从属实施方式，核心不扩成完整服务平台。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3" name="Shape 27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完整软硬方案的中心估算已计新增费用。8MiB片上存储为每卡配置目标。12专家×2层×42.0103MiB=0.9846GiB/节点额外副本空间。算法路由历史、KV和执行缓冲另计，不能将该数字作为整机容量。芯片面积和功耗需目标工艺综合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7" name="Shape 28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本页是后续技术取证路径，不表示已经确认任何产品使用本方案。证据组合应核对具体权利要求。设备自主通信本身已有公开基础，不能单独证明完整组合。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30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1" name="Shape 30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四个独立维度分别对应保护对象、物理组织、状态编码以及执行时序。每段先说明潜在替代实现，再说明需要补充的说明书支持与保护表达。仅更换名称本身不决定是否落入权利要求；泛化为模型参数单元仍保留请求路由选择和计算用途，避免不受支持地覆盖任意数据。时序变体及分散实现须有具体实施支持，并结合已有技术核验保护边界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7" name="Shape 31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检索关键词为本提案技术范围组织。公开文本复核日期2026-10-13。检索入口Google Patents，系统依据来自官方文档与作者公开资料。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公开日期已复核。</a:t>
            </a:r>
          </a:p>
          <a:p>
            <a:r>
              <a:t>https://github.com/deepseek-ai/DeepEP/blob/v1.2.1/README.md#performance</a:t>
            </a:r>
          </a:p>
          <a:p>
            <a:r>
              <a:t>https://github.com/deepseek-ai/profile-data/blob/main/decode.json</a:t>
            </a:r>
          </a:p>
          <a:p>
            <a:r>
              <a:t>https://huggingface.co/deepseek-ai/DeepSeek-V3/blob/main/config.json</a:t>
            </a:r>
          </a:p>
          <a:p>
            <a:r>
              <a:t>https://docs.nvidia.com/dynamo/dev/knowledge-base/concepts/system-architecture/disaggregated-serving</a:t>
            </a:r>
          </a:p>
          <a:p>
            <a:r>
              <a:t>https://docs.nvidia.com/deeplearning/nccl/user-guide/docs/usage/deviceapi.html</a:t>
            </a:r>
          </a:p>
          <a:p>
            <a:r>
              <a:t>https://patents.google.com/patent/US20250086424A1/en</a:t>
            </a:r>
          </a:p>
          <a:p>
            <a:r>
              <a:t>https://patents.google.com/patent/US20250356164A1/en</a:t>
            </a:r>
          </a:p>
          <a:p>
            <a:r>
              <a:t>https://patents.google.com/patent/US20250190755A1/en</a:t>
            </a:r>
          </a:p>
          <a:p>
            <a:r>
              <a:t>https://patents.google.com/patent/CN120235253A/zh</a:t>
            </a:r>
          </a:p>
          <a:p>
            <a:r>
              <a:t>https://github.com/expertflow-dac/expertflow</a:t>
            </a:r>
          </a:p>
          <a:p>
            <a:r>
              <a:t>https://arxiv.org/abs/2607.08782</a:t>
            </a:r>
          </a:p>
          <a:p>
            <a:r>
              <a:t>项目证据：多尺度验证报告第4.4节。所有技术区别须结合公开权利要求及同族进一步核验。</a:t>
            </a:r>
          </a:p>
          <a:p>
            <a:r>
              <a:t>新增条目来源（2026-10-14核对）：</a:t>
            </a:r>
          </a:p>
          <a:p>
            <a:r>
              <a:t>US20260099697A1, Expert selection from mixture of experts in large language models, 2026-04-09, https://patents.google.com/patent/US20260099697A1/en</a:t>
            </a:r>
          </a:p>
          <a:p>
            <a:r>
              <a:t>US20260252911A1, Method and electronic device for optimizing mixture of experts model, 2026-08-27, https://patents.justia.com/patent/20260252911</a:t>
            </a:r>
          </a:p>
          <a:p>
            <a:r>
              <a:t>US20260141259A1, Scheduling shared experts in mixture-of-expert systems with all-to-all operations, 2026-05-21, https://patents.google.com/patent/US20260141259A1/en</a:t>
            </a:r>
          </a:p>
          <a:p>
            <a:r>
              <a:t>US20250190367A1, Cache Injection and Prefetch Mechanisms for Improving Multi-Die Processing System Performance, 2025-06-12, https://patents.google.com/patent/US20250190367A1/en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34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2" name="Shape 34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https://patents.google.com/patent/US20250086424A1/en</a:t>
            </a:r>
          </a:p>
          <a:p>
            <a:r>
              <a:t>对照位置：权利要求1、6、8、13。既有文献已公开硬件专家管理与迁移，不能以泛化迁移作为唯一区别。</a:t>
            </a:r>
          </a:p>
          <a:p>
            <a:r>
              <a:t>附图来源：https://patents.google.com/patent/US20250086424A1/en</a:t>
            </a:r>
          </a:p>
          <a:p>
            <a:r>
              <a:t>原文图 13A：MoE 管理硬件加速器。直接使用公开原图，仅进行方向和尺寸调整。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6" name="Shape 35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https://patents.google.com/patent/US20250356164A1/en</a:t>
            </a:r>
          </a:p>
          <a:p>
            <a:r>
              <a:t>对照位置：权利要求1、3、4。专家缓存命中与加载本身已有公开。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37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1" name="Shape 3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https://patents.google.com/patent/US20250190755A1/en</a:t>
            </a:r>
          </a:p>
          <a:p>
            <a:r>
              <a:t>对照位置：权利要求1、6、7。独立路由加速已有相关公开，本提案应以完整具体组合核验。</a:t>
            </a:r>
          </a:p>
          <a:p>
            <a:r>
              <a:t>附图来源：https://patents.google.com/patent/US20250190755A1/en</a:t>
            </a:r>
          </a:p>
          <a:p>
            <a:r>
              <a:t>原文图 1：通用计算环境结构。直接使用公开原图，仅进行方向和尺寸调整。该图是通用计算环境，不是专用路由加速器电路图。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</p:spPr>
        <p:txBody>
          <a:bodyPr anchor="ctr"/>
          <a:lstStyle>
            <a:lvl1pPr marL="0" indent="0" algn="l">
              <a:spcBef>
                <a:spcPts val="0"/>
              </a:spcBef>
              <a:buSzTx/>
              <a:buNone/>
            </a:lvl1pPr>
            <a:lvl2pPr marL="0" indent="0" algn="l">
              <a:spcBef>
                <a:spcPts val="0"/>
              </a:spcBef>
              <a:buSzTx/>
              <a:buNone/>
            </a:lvl2pPr>
            <a:lvl3pPr marL="0" indent="0" algn="l">
              <a:spcBef>
                <a:spcPts val="0"/>
              </a:spcBef>
              <a:buSzTx/>
              <a:buNone/>
            </a:lvl3pPr>
            <a:lvl4pPr marL="0" indent="0" algn="l">
              <a:spcBef>
                <a:spcPts val="0"/>
              </a:spcBef>
              <a:buSzTx/>
              <a:buNone/>
            </a:lvl4pPr>
            <a:lvl5pPr marL="0" indent="0" algn="l">
              <a:spcBef>
                <a:spcPts val="0"/>
              </a:spcBef>
              <a:buSzTx/>
              <a:buNone/>
            </a:lvl5pPr>
          </a:lstStyle>
          <a:p>
            <a:pPr algn="l"/>
            <a:r>
              <a:t>正文级别 1</a:t>
            </a:r>
          </a:p>
          <a:p>
            <a:pPr lvl="1" algn="l"/>
            <a:r>
              <a:t>正文级别 2</a:t>
            </a:r>
          </a:p>
          <a:p>
            <a:pPr lvl="2" algn="l"/>
            <a:r>
              <a:t>正文级别 3</a:t>
            </a:r>
          </a:p>
          <a:p>
            <a:pPr lvl="3" algn="l"/>
            <a:r>
              <a:t>正文级别 4</a:t>
            </a:r>
          </a:p>
          <a:p>
            <a:pPr lvl="4" algn="l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t>标题文本</a:t>
            </a:r>
          </a:p>
        </p:txBody>
      </p:sp>
      <p:sp>
        <p:nvSpPr>
          <p:cNvPr id="2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t>标题文本</a:t>
            </a:r>
          </a:p>
        </p:txBody>
      </p:sp>
      <p:sp>
        <p:nvSpPr>
          <p:cNvPr id="29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t>正文级别 1</a:t>
            </a:r>
          </a:p>
          <a:p>
            <a:pPr lvl="1" algn="l"/>
            <a:r>
              <a:t>正文级别 2</a:t>
            </a:r>
          </a:p>
          <a:p>
            <a:pPr lvl="2" algn="l"/>
            <a:r>
              <a:t>正文级别 3</a:t>
            </a:r>
          </a:p>
          <a:p>
            <a:pPr lvl="3" algn="l"/>
            <a:r>
              <a:t>正文级别 4</a:t>
            </a:r>
          </a:p>
          <a:p>
            <a:pPr lvl="4" algn="l"/>
            <a:r>
              <a:t>正文级别 5</a:t>
            </a:r>
          </a:p>
        </p:txBody>
      </p:sp>
      <p:sp>
        <p:nvSpPr>
          <p:cNvPr id="3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t>标题文本</a:t>
            </a:r>
          </a:p>
        </p:txBody>
      </p:sp>
      <p:sp>
        <p:nvSpPr>
          <p:cNvPr id="38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</p:spPr>
        <p:txBody>
          <a:bodyPr/>
          <a:lstStyle/>
          <a:p>
            <a:pPr algn="l"/>
            <a:r>
              <a:t>正文级别 1</a:t>
            </a:r>
          </a:p>
          <a:p>
            <a:pPr lvl="1" algn="l"/>
            <a:r>
              <a:t>正文级别 2</a:t>
            </a:r>
          </a:p>
          <a:p>
            <a:pPr lvl="2" algn="l"/>
            <a:r>
              <a:t>正文级别 3</a:t>
            </a:r>
          </a:p>
          <a:p>
            <a:pPr lvl="3" algn="l"/>
            <a:r>
              <a:t>正文级别 4</a:t>
            </a:r>
          </a:p>
          <a:p>
            <a:pPr lvl="4" algn="l"/>
            <a:r>
              <a:t>正文级别 5</a:t>
            </a:r>
          </a:p>
        </p:txBody>
      </p:sp>
      <p:sp>
        <p:nvSpPr>
          <p:cNvPr id="39" name="Right column"/>
          <p:cNvSpPr>
            <a:spLocks noGrp="1"/>
          </p:cNvSpPr>
          <p:nvPr>
            <p:ph type="body" sz="half" idx="21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</p:spPr>
        <p:txBody>
          <a:bodyPr/>
          <a:lstStyle/>
          <a:p>
            <a:pPr algn="l"/>
            <a:endParaRPr/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</p:spPr>
        <p:txBody>
          <a:bodyPr/>
          <a:lstStyle/>
          <a:p>
            <a:pPr algn="l"/>
            <a:r>
              <a:t>正文级别 1</a:t>
            </a:r>
          </a:p>
          <a:p>
            <a:pPr lvl="1" algn="l"/>
            <a:r>
              <a:t>正文级别 2</a:t>
            </a:r>
          </a:p>
          <a:p>
            <a:pPr lvl="2" algn="l"/>
            <a:r>
              <a:t>正文级别 3</a:t>
            </a:r>
          </a:p>
          <a:p>
            <a:pPr lvl="3" algn="l"/>
            <a:r>
              <a:t>正文级别 4</a:t>
            </a:r>
          </a:p>
          <a:p>
            <a:pPr lvl="4" algn="l"/>
            <a:r>
              <a:t>正文级别 5</a:t>
            </a:r>
          </a:p>
        </p:txBody>
      </p:sp>
      <p:sp>
        <p:nvSpPr>
          <p:cNvPr id="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algn="l"/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algn="l"/>
            <a:r>
              <a:t>正文级别 1</a:t>
            </a:r>
          </a:p>
          <a:p>
            <a:pPr lvl="1" algn="l"/>
            <a:r>
              <a:t>正文级别 2</a:t>
            </a:r>
          </a:p>
          <a:p>
            <a:pPr lvl="2" algn="l"/>
            <a:r>
              <a:t>正文级别 3</a:t>
            </a:r>
          </a:p>
          <a:p>
            <a:pPr lvl="3" algn="l"/>
            <a:r>
              <a:t>正文级别 4</a:t>
            </a:r>
          </a:p>
          <a:p>
            <a:pPr lvl="4" algn="l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l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l"/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1pPr>
      <a:lvl2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2pPr>
      <a:lvl3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3pPr>
      <a:lvl4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4pPr>
      <a:lvl5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5pPr>
      <a:lvl6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6pPr>
      <a:lvl7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7pPr>
      <a:lvl8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8pPr>
      <a:lvl9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9pPr>
    </p:titleStyle>
    <p:bodyStyle>
      <a:lvl1pPr marL="228600" marR="0" indent="-228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1pPr>
      <a:lvl2pPr marL="571500" marR="0" indent="-2667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2pPr>
      <a:lvl3pPr marL="929639" marR="0" indent="-320039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3pPr>
      <a:lvl4pPr marL="12700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4pPr>
      <a:lvl5pPr marL="15748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5pPr>
      <a:lvl6pPr marL="18796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6pPr>
      <a:lvl7pPr marL="21844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7pPr>
      <a:lvl8pPr marL="24892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8pPr>
      <a:lvl9pPr marL="2794000" marR="0" indent="-355600" algn="l" defTabSz="91440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专利技术方案"/>
          <p:cNvSpPr txBox="1"/>
          <p:nvPr/>
        </p:nvSpPr>
        <p:spPr>
          <a:xfrm>
            <a:off x="571500" y="619125"/>
            <a:ext cx="110490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专利技术方案</a:t>
            </a:r>
          </a:p>
        </p:txBody>
      </p:sp>
      <p:sp>
        <p:nvSpPr>
          <p:cNvPr id="66" name="面向服务器 MoE 解码的专家驻留与自主补载加速模块"/>
          <p:cNvSpPr txBox="1"/>
          <p:nvPr/>
        </p:nvSpPr>
        <p:spPr>
          <a:xfrm>
            <a:off x="571500" y="1714500"/>
            <a:ext cx="110490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36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pPr>
            <a:r>
              <a:rPr dirty="0" err="1"/>
              <a:t>面向服务器</a:t>
            </a:r>
            <a:r>
              <a:rPr dirty="0"/>
              <a:t> MoE </a:t>
            </a:r>
            <a:r>
              <a:rPr dirty="0" err="1"/>
              <a:t>解码的</a:t>
            </a:r>
            <a:endParaRPr dirty="0"/>
          </a:p>
          <a:p>
            <a:pPr algn="l">
              <a:defRPr sz="36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pPr>
            <a:r>
              <a:rPr dirty="0" err="1"/>
              <a:t>专家驻留与自主补载加速模块</a:t>
            </a:r>
            <a:endParaRPr dirty="0"/>
          </a:p>
        </p:txBody>
      </p:sp>
      <p:sp>
        <p:nvSpPr>
          <p:cNvPr id="67" name="节点内请求需求与专家驻留的动态匹配"/>
          <p:cNvSpPr txBox="1"/>
          <p:nvPr/>
        </p:nvSpPr>
        <p:spPr>
          <a:xfrm>
            <a:off x="571500" y="3571875"/>
            <a:ext cx="1104900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rgbClr val="111111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节点内请求需求与专家驻留的动态匹配</a:t>
            </a:r>
          </a:p>
        </p:txBody>
      </p:sp>
      <p:sp>
        <p:nvSpPr>
          <p:cNvPr id="68" name="GPU 内独立路由计算、驻留检查与设备自主补载"/>
          <p:cNvSpPr txBox="1"/>
          <p:nvPr/>
        </p:nvSpPr>
        <p:spPr>
          <a:xfrm>
            <a:off x="571500" y="4238625"/>
            <a:ext cx="110490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GPU 内独立路由计算、驻留检查与设备自主补载</a:t>
            </a:r>
          </a:p>
        </p:txBody>
      </p:sp>
      <p:sp>
        <p:nvSpPr>
          <p:cNvPr id="69" name="装置、执行方法及芯片2026 年 10 月"/>
          <p:cNvSpPr txBox="1"/>
          <p:nvPr/>
        </p:nvSpPr>
        <p:spPr>
          <a:xfrm>
            <a:off x="571500" y="5534025"/>
            <a:ext cx="11049000" cy="488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5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装置、执行方法及芯片</a:t>
            </a:r>
          </a:p>
          <a:p>
            <a:pPr algn="l">
              <a:defRPr sz="15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2026 年 10 月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发明背景"/>
          <p:cNvSpPr txBox="1"/>
          <p:nvPr/>
        </p:nvSpPr>
        <p:spPr>
          <a:xfrm>
            <a:off x="552450" y="228600"/>
            <a:ext cx="10763250" cy="171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3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发明背景</a:t>
            </a:r>
          </a:p>
        </p:txBody>
      </p:sp>
      <p:sp>
        <p:nvSpPr>
          <p:cNvPr id="74" name="跨节点专家访问使 Decode 反复承担通信开销"/>
          <p:cNvSpPr txBox="1"/>
          <p:nvPr/>
        </p:nvSpPr>
        <p:spPr>
          <a:xfrm>
            <a:off x="552450" y="609600"/>
            <a:ext cx="11049000" cy="349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跨节点专家访问使 Decode 反复承担通信开销</a:t>
            </a:r>
          </a:p>
        </p:txBody>
      </p:sp>
      <p:sp>
        <p:nvSpPr>
          <p:cNvPr id="75" name="02"/>
          <p:cNvSpPr txBox="1"/>
          <p:nvPr/>
        </p:nvSpPr>
        <p:spPr>
          <a:xfrm>
            <a:off x="11334750" y="6429375"/>
            <a:ext cx="381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02</a:t>
            </a:r>
          </a:p>
        </p:txBody>
      </p:sp>
      <p:sp>
        <p:nvSpPr>
          <p:cNvPr id="76" name="问题背景"/>
          <p:cNvSpPr txBox="1"/>
          <p:nvPr/>
        </p:nvSpPr>
        <p:spPr>
          <a:xfrm>
            <a:off x="552450" y="1352550"/>
            <a:ext cx="110871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问题背景</a:t>
            </a:r>
          </a:p>
        </p:txBody>
      </p:sp>
      <p:sp>
        <p:nvSpPr>
          <p:cNvPr id="77" name="大规模 MoE 推理将同一层的专家分布在多个服务器节点。请求"/>
          <p:cNvSpPr txBox="1"/>
          <p:nvPr/>
        </p:nvSpPr>
        <p:spPr>
          <a:xfrm>
            <a:off x="552450" y="1704975"/>
            <a:ext cx="11087100" cy="691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50000"/>
              </a:lnSpc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rPr sz="1600" dirty="0" err="1"/>
              <a:t>大规模</a:t>
            </a:r>
            <a:r>
              <a:rPr sz="1600" dirty="0"/>
              <a:t> MoE </a:t>
            </a:r>
            <a:r>
              <a:rPr sz="1600" dirty="0" err="1"/>
              <a:t>推理将专家分布在多个服务器节点</a:t>
            </a:r>
            <a:r>
              <a:rPr sz="1600" dirty="0"/>
              <a:t>。</a:t>
            </a:r>
            <a:r>
              <a:rPr lang="zh-CN" altLang="en-US" sz="1600" dirty="0"/>
              <a:t>一个</a:t>
            </a:r>
            <a:r>
              <a:rPr sz="1600" dirty="0" err="1"/>
              <a:t>请求所需专家可能位于</a:t>
            </a:r>
            <a:r>
              <a:rPr lang="zh-CN" altLang="en-US" sz="1600" dirty="0"/>
              <a:t>多个</a:t>
            </a:r>
            <a:r>
              <a:rPr sz="1600" dirty="0" err="1"/>
              <a:t>远端</a:t>
            </a:r>
            <a:r>
              <a:rPr lang="zh-CN" altLang="en-US" sz="1600" dirty="0"/>
              <a:t>，</a:t>
            </a:r>
            <a:r>
              <a:rPr sz="1600" dirty="0" err="1"/>
              <a:t>每生成一个新</a:t>
            </a:r>
            <a:r>
              <a:rPr sz="1600" dirty="0"/>
              <a:t> </a:t>
            </a:r>
            <a:r>
              <a:rPr sz="1600" dirty="0" err="1"/>
              <a:t>token，都需要跨节点发送输入并收回结果，形成反复的</a:t>
            </a:r>
            <a:r>
              <a:rPr sz="1600" dirty="0"/>
              <a:t> All-to-All </a:t>
            </a:r>
            <a:r>
              <a:rPr sz="1600" dirty="0" err="1"/>
              <a:t>通信，持续产生跨节点通信开销</a:t>
            </a:r>
            <a:r>
              <a:rPr sz="1600" dirty="0" err="1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rPr>
              <a:t>并限制</a:t>
            </a:r>
            <a:r>
              <a:rPr sz="1600" dirty="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rPr>
              <a:t> Decode </a:t>
            </a:r>
            <a:r>
              <a:rPr sz="1600" dirty="0" err="1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rPr>
              <a:t>吞吐</a:t>
            </a:r>
            <a:r>
              <a:rPr sz="1600" dirty="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rPr>
              <a:t>。</a:t>
            </a:r>
          </a:p>
        </p:txBody>
      </p:sp>
      <p:sp>
        <p:nvSpPr>
          <p:cNvPr id="78" name="现有方案"/>
          <p:cNvSpPr txBox="1"/>
          <p:nvPr/>
        </p:nvSpPr>
        <p:spPr>
          <a:xfrm>
            <a:off x="552450" y="2562225"/>
            <a:ext cx="110871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现有方案</a:t>
            </a:r>
          </a:p>
        </p:txBody>
      </p:sp>
      <p:sp>
        <p:nvSpPr>
          <p:cNvPr id="79" name="常规专家并行采用逐步分发与返回的执行方式。低时延通信库、目标"/>
          <p:cNvSpPr txBox="1"/>
          <p:nvPr/>
        </p:nvSpPr>
        <p:spPr>
          <a:xfrm>
            <a:off x="552450" y="2914650"/>
            <a:ext cx="11087100" cy="1060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50000"/>
              </a:lnSpc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rPr sz="1600" dirty="0" err="1"/>
              <a:t>常规专家并行采用</a:t>
            </a:r>
            <a:r>
              <a:rPr sz="1600" dirty="0" err="1">
                <a:solidFill>
                  <a:srgbClr val="9C2F32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rPr>
              <a:t>逐步分发与返回</a:t>
            </a:r>
            <a:r>
              <a:rPr sz="1600" dirty="0" err="1"/>
              <a:t>的执行方式。低时延通信库、目标节点去重和计算通信重叠可以降低单次成本，但即使专家选择保持不变，新</a:t>
            </a:r>
            <a:r>
              <a:rPr sz="1600" dirty="0"/>
              <a:t> token </a:t>
            </a:r>
            <a:r>
              <a:rPr sz="1600" dirty="0" err="1"/>
              <a:t>的输入与结果仍需重新传输。若将常用专家提前放到本地，还需持续检查缺失并安排传输与后续计算</a:t>
            </a:r>
            <a:r>
              <a:rPr sz="1600" dirty="0"/>
              <a:t>。</a:t>
            </a:r>
          </a:p>
        </p:txBody>
      </p:sp>
      <p:sp>
        <p:nvSpPr>
          <p:cNvPr id="80" name="新的本地执行机会"/>
          <p:cNvSpPr txBox="1"/>
          <p:nvPr/>
        </p:nvSpPr>
        <p:spPr>
          <a:xfrm>
            <a:off x="552450" y="3771900"/>
            <a:ext cx="110871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rPr dirty="0" err="1"/>
              <a:t>新的本地执行机会</a:t>
            </a:r>
            <a:endParaRPr dirty="0"/>
          </a:p>
        </p:txBody>
      </p:sp>
      <p:sp>
        <p:nvSpPr>
          <p:cNvPr id="81" name="本项目模型具有同一请求、同一层的专家激活连续性。利用 Pre"/>
          <p:cNvSpPr txBox="1"/>
          <p:nvPr/>
        </p:nvSpPr>
        <p:spPr>
          <a:xfrm>
            <a:off x="552450" y="4124325"/>
            <a:ext cx="11087100" cy="1060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50000"/>
              </a:lnSpc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rPr sz="1600" dirty="0" err="1"/>
              <a:t>本项目模型具有同一请求、同一层的</a:t>
            </a:r>
            <a:r>
              <a:rPr sz="1600" dirty="0" err="1">
                <a:solidFill>
                  <a:srgbClr val="9C2F32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rPr>
              <a:t>专家激活连续性</a:t>
            </a:r>
            <a:r>
              <a:rPr sz="1600" dirty="0" err="1"/>
              <a:t>。利用</a:t>
            </a:r>
            <a:r>
              <a:rPr sz="1600" dirty="0"/>
              <a:t> Prefill </a:t>
            </a:r>
            <a:r>
              <a:rPr sz="1600" dirty="0" err="1"/>
              <a:t>尾部的专家亲和性，可在</a:t>
            </a:r>
            <a:r>
              <a:rPr sz="1600" dirty="0"/>
              <a:t> P→D </a:t>
            </a:r>
            <a:r>
              <a:rPr sz="1600" dirty="0" err="1"/>
              <a:t>交接时将需求相近的请求组织到同一</a:t>
            </a:r>
            <a:r>
              <a:rPr sz="1600" dirty="0"/>
              <a:t> Decode </a:t>
            </a:r>
            <a:r>
              <a:rPr sz="1600" dirty="0" err="1"/>
              <a:t>节点，并准备常用专家。只要本地工作集覆盖本轮需求，输入与结果就可在节点内流转，一次专家复制可服务后续多次访问</a:t>
            </a:r>
            <a:r>
              <a:rPr sz="1600" dirty="0"/>
              <a:t>。</a:t>
            </a:r>
          </a:p>
        </p:txBody>
      </p:sp>
      <p:sp>
        <p:nvSpPr>
          <p:cNvPr id="82" name="核心问题"/>
          <p:cNvSpPr txBox="1"/>
          <p:nvPr/>
        </p:nvSpPr>
        <p:spPr>
          <a:xfrm>
            <a:off x="552450" y="5277137"/>
            <a:ext cx="110871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rPr dirty="0" err="1"/>
              <a:t>核心问题</a:t>
            </a:r>
            <a:endParaRPr dirty="0"/>
          </a:p>
        </p:txBody>
      </p:sp>
      <p:sp>
        <p:nvSpPr>
          <p:cNvPr id="83" name="初始聚类与专家准备建立本地执行条件，连续 Decode 中的"/>
          <p:cNvSpPr txBox="1"/>
          <p:nvPr/>
        </p:nvSpPr>
        <p:spPr>
          <a:xfrm>
            <a:off x="552450" y="5629562"/>
            <a:ext cx="11087100" cy="691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50000"/>
              </a:lnSpc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rPr lang="zh-CN" altLang="en-US" sz="1600" dirty="0"/>
              <a:t>是否存在硬件上的加速结构，能够利用算法提供的专家</a:t>
            </a:r>
            <a:r>
              <a:rPr sz="1600" dirty="0" err="1"/>
              <a:t>本地执行条件，与前向计算并行判断真实需求，发现缺失即自主补载并触发关联计算，免去</a:t>
            </a:r>
            <a:r>
              <a:rPr sz="1600" dirty="0"/>
              <a:t> CPU </a:t>
            </a:r>
            <a:r>
              <a:rPr sz="1600" dirty="0" err="1"/>
              <a:t>逐次调度，使本地执行条件持续成立</a:t>
            </a:r>
            <a:r>
              <a:rPr sz="1600" dirty="0"/>
              <a:t>。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现有技术路径"/>
          <p:cNvSpPr txBox="1"/>
          <p:nvPr/>
        </p:nvSpPr>
        <p:spPr>
          <a:xfrm>
            <a:off x="552450" y="228600"/>
            <a:ext cx="10763250" cy="171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3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现有技术路径</a:t>
            </a:r>
          </a:p>
        </p:txBody>
      </p:sp>
      <p:sp>
        <p:nvSpPr>
          <p:cNvPr id="88" name="已有通信与缓存能力，提供模块实施基础"/>
          <p:cNvSpPr txBox="1"/>
          <p:nvPr/>
        </p:nvSpPr>
        <p:spPr>
          <a:xfrm>
            <a:off x="552450" y="609600"/>
            <a:ext cx="1104900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5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GPU / NPU / TPU：已有能力与专家驻留管理缺口</a:t>
            </a:r>
          </a:p>
        </p:txBody>
      </p:sp>
      <p:sp>
        <p:nvSpPr>
          <p:cNvPr id="89" name="03"/>
          <p:cNvSpPr txBox="1"/>
          <p:nvPr/>
        </p:nvSpPr>
        <p:spPr>
          <a:xfrm>
            <a:off x="11334750" y="6429375"/>
            <a:ext cx="381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03</a:t>
            </a:r>
          </a:p>
        </p:txBody>
      </p:sp>
      <p:sp>
        <p:nvSpPr>
          <p:cNvPr id="90" name="GPU / NVIDIA"/>
          <p:cNvSpPr txBox="1"/>
          <p:nvPr/>
        </p:nvSpPr>
        <p:spPr>
          <a:xfrm>
            <a:off x="552450" y="1362075"/>
            <a:ext cx="35052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GPU / NVIDIA</a:t>
            </a:r>
          </a:p>
        </p:txBody>
      </p:sp>
      <p:pic>
        <p:nvPicPr>
          <p:cNvPr id="91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768" y="1790700"/>
            <a:ext cx="2330564" cy="1962150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[1] GDA-KI 设备侧网络路径"/>
          <p:cNvSpPr txBox="1"/>
          <p:nvPr/>
        </p:nvSpPr>
        <p:spPr>
          <a:xfrm>
            <a:off x="552450" y="3819525"/>
            <a:ext cx="35052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[1] GDA-KI 设备侧网络路径</a:t>
            </a:r>
          </a:p>
        </p:txBody>
      </p:sp>
      <p:sp>
        <p:nvSpPr>
          <p:cNvPr id="93" name="能够做到"/>
          <p:cNvSpPr txBox="1"/>
          <p:nvPr/>
        </p:nvSpPr>
        <p:spPr>
          <a:xfrm>
            <a:off x="552450" y="4171950"/>
            <a:ext cx="3505200" cy="222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能够做到</a:t>
            </a:r>
          </a:p>
        </p:txBody>
      </p:sp>
      <p:sp>
        <p:nvSpPr>
          <p:cNvPr id="94" name="CUDA 内核可提交 RDMA 请求、通知网卡并处理完成事件，省去数据"/>
          <p:cNvSpPr txBox="1"/>
          <p:nvPr/>
        </p:nvSpPr>
        <p:spPr>
          <a:xfrm>
            <a:off x="552450" y="4514850"/>
            <a:ext cx="3505200" cy="781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CUDA 内核可提交 RDMA 请求、通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知网卡并处理完成事件，省去数据路径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中的 CPU 中转。</a:t>
            </a:r>
          </a:p>
        </p:txBody>
      </p:sp>
      <p:sp>
        <p:nvSpPr>
          <p:cNvPr id="95" name="本专利所需的进一步能力"/>
          <p:cNvSpPr txBox="1"/>
          <p:nvPr/>
        </p:nvSpPr>
        <p:spPr>
          <a:xfrm>
            <a:off x="552450" y="5381625"/>
            <a:ext cx="3505200" cy="196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500">
                <a:solidFill>
                  <a:srgbClr val="9C2F32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本专利所需的进一步能力</a:t>
            </a:r>
          </a:p>
        </p:txBody>
      </p:sp>
      <p:sp>
        <p:nvSpPr>
          <p:cNvPr id="96" name="通用传输不自动识别专家缺失，仍需连接需求位图、驻留目录与计算唤醒。"/>
          <p:cNvSpPr txBox="1"/>
          <p:nvPr/>
        </p:nvSpPr>
        <p:spPr>
          <a:xfrm>
            <a:off x="552450" y="5695950"/>
            <a:ext cx="3505200" cy="44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通用传输不自动识别专家缺失，仍需连接</a:t>
            </a:r>
          </a:p>
          <a:p>
            <a:pPr algn="l">
              <a:defRPr sz="14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需求位图、驻留目录与计算唤醒。</a:t>
            </a:r>
          </a:p>
        </p:txBody>
      </p:sp>
      <p:sp>
        <p:nvSpPr>
          <p:cNvPr id="97" name="NPU / 昇腾 AI Core"/>
          <p:cNvSpPr txBox="1"/>
          <p:nvPr/>
        </p:nvSpPr>
        <p:spPr>
          <a:xfrm>
            <a:off x="4343400" y="1362075"/>
            <a:ext cx="35052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NPU / 昇腾 AI Core</a:t>
            </a:r>
          </a:p>
        </p:txBody>
      </p:sp>
      <p:pic>
        <p:nvPicPr>
          <p:cNvPr id="98" name="image2.png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973766"/>
            <a:ext cx="3505200" cy="1596018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[2] AI Core 计算、搬运与控制"/>
          <p:cNvSpPr txBox="1"/>
          <p:nvPr/>
        </p:nvSpPr>
        <p:spPr>
          <a:xfrm>
            <a:off x="4343400" y="3819525"/>
            <a:ext cx="35052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[2] AI Core 计算、搬运与控制</a:t>
            </a:r>
          </a:p>
        </p:txBody>
      </p:sp>
      <p:sp>
        <p:nvSpPr>
          <p:cNvPr id="100" name="能够做到"/>
          <p:cNvSpPr txBox="1"/>
          <p:nvPr/>
        </p:nvSpPr>
        <p:spPr>
          <a:xfrm>
            <a:off x="4343400" y="4171950"/>
            <a:ext cx="3505200" cy="222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能够做到</a:t>
            </a:r>
          </a:p>
        </p:txBody>
      </p:sp>
      <p:sp>
        <p:nvSpPr>
          <p:cNvPr id="101" name="Cube、Vector、Scalar 执行计算与控制，MTE 搬运数据"/>
          <p:cNvSpPr txBox="1"/>
          <p:nvPr/>
        </p:nvSpPr>
        <p:spPr>
          <a:xfrm>
            <a:off x="4343400" y="4514850"/>
            <a:ext cx="3505200" cy="781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Cube、Vector、Scalar 执行计算与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控制，MTE 搬运数据，事件机制协调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流水线。</a:t>
            </a:r>
          </a:p>
        </p:txBody>
      </p:sp>
      <p:sp>
        <p:nvSpPr>
          <p:cNvPr id="102" name="本专利所需的进一步能力"/>
          <p:cNvSpPr txBox="1"/>
          <p:nvPr/>
        </p:nvSpPr>
        <p:spPr>
          <a:xfrm>
            <a:off x="4343400" y="5381625"/>
            <a:ext cx="3505200" cy="196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500">
                <a:solidFill>
                  <a:srgbClr val="9C2F32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本专利所需的进一步能力</a:t>
            </a:r>
          </a:p>
        </p:txBody>
      </p:sp>
      <p:sp>
        <p:nvSpPr>
          <p:cNvPr id="103" name="通用搬运不自动维护专家驻留，仍需按真实路由查询远端副本并触发补载。"/>
          <p:cNvSpPr txBox="1"/>
          <p:nvPr/>
        </p:nvSpPr>
        <p:spPr>
          <a:xfrm>
            <a:off x="4343400" y="5695950"/>
            <a:ext cx="3505200" cy="44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通用搬运不自动维护专家驻留，仍需按真</a:t>
            </a:r>
          </a:p>
          <a:p>
            <a:pPr algn="l">
              <a:defRPr sz="14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实路由查询远端副本并触发补载。</a:t>
            </a:r>
          </a:p>
        </p:txBody>
      </p:sp>
      <p:sp>
        <p:nvSpPr>
          <p:cNvPr id="104" name="TPU / Google TPU v4"/>
          <p:cNvSpPr txBox="1"/>
          <p:nvPr/>
        </p:nvSpPr>
        <p:spPr>
          <a:xfrm>
            <a:off x="8134350" y="1362075"/>
            <a:ext cx="35052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TPU / Google TPU v4</a:t>
            </a:r>
          </a:p>
        </p:txBody>
      </p:sp>
      <p:pic>
        <p:nvPicPr>
          <p:cNvPr id="105" name="image3.png" descr="im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4350" y="2173775"/>
            <a:ext cx="3505200" cy="1196001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[3] TPU v4 芯片架构"/>
          <p:cNvSpPr txBox="1"/>
          <p:nvPr/>
        </p:nvSpPr>
        <p:spPr>
          <a:xfrm>
            <a:off x="8134350" y="3819525"/>
            <a:ext cx="35052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[3] TPU v4 芯片架构</a:t>
            </a:r>
          </a:p>
        </p:txBody>
      </p:sp>
      <p:sp>
        <p:nvSpPr>
          <p:cNvPr id="107" name="能够做到"/>
          <p:cNvSpPr txBox="1"/>
          <p:nvPr/>
        </p:nvSpPr>
        <p:spPr>
          <a:xfrm>
            <a:off x="8134350" y="4171950"/>
            <a:ext cx="3505200" cy="222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能够做到</a:t>
            </a:r>
          </a:p>
        </p:txBody>
      </p:sp>
      <p:sp>
        <p:nvSpPr>
          <p:cNvPr id="108" name="MXU、向量与标量单元承担计算和控制，HBM 与 ICI 支持存储及芯"/>
          <p:cNvSpPr txBox="1"/>
          <p:nvPr/>
        </p:nvSpPr>
        <p:spPr>
          <a:xfrm>
            <a:off x="8134350" y="4514850"/>
            <a:ext cx="3505200" cy="781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MXU、向量与标量单元承担计算和控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制，HBM 与 ICI 支持存储及芯片间通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信。</a:t>
            </a:r>
          </a:p>
        </p:txBody>
      </p:sp>
      <p:sp>
        <p:nvSpPr>
          <p:cNvPr id="109" name="本专利所需的进一步能力"/>
          <p:cNvSpPr txBox="1"/>
          <p:nvPr/>
        </p:nvSpPr>
        <p:spPr>
          <a:xfrm>
            <a:off x="8134350" y="5381625"/>
            <a:ext cx="3505200" cy="196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500">
                <a:solidFill>
                  <a:srgbClr val="9C2F32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本专利所需的进一步能力</a:t>
            </a:r>
          </a:p>
        </p:txBody>
      </p:sp>
      <p:sp>
        <p:nvSpPr>
          <p:cNvPr id="110" name="计算和互联不自动保持专家就绪，仍需将请求需求、增量补载与结果校验连接。"/>
          <p:cNvSpPr txBox="1"/>
          <p:nvPr/>
        </p:nvSpPr>
        <p:spPr>
          <a:xfrm>
            <a:off x="8134350" y="5695950"/>
            <a:ext cx="3505200" cy="44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计算和互联不自动保持专家就绪，仍需将</a:t>
            </a:r>
          </a:p>
          <a:p>
            <a:pPr algn="l">
              <a:defRPr sz="14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请求需求、增量补载与结果校验连接。</a:t>
            </a:r>
          </a:p>
        </p:txBody>
      </p:sp>
      <p:sp>
        <p:nvSpPr>
          <p:cNvPr id="111" name="注：所引公开资料未披露上述专用组合能力，通用硬件仍可由软件编排实现。原"/>
          <p:cNvSpPr txBox="1"/>
          <p:nvPr/>
        </p:nvSpPr>
        <p:spPr>
          <a:xfrm>
            <a:off x="552450" y="6496050"/>
            <a:ext cx="10572750" cy="146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1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注：所引公开资料未披露上述专用组合能力，通用硬件仍可由软件编排实现。原图来源及链接见备注。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本发明技术方案"/>
          <p:cNvSpPr txBox="1"/>
          <p:nvPr/>
        </p:nvSpPr>
        <p:spPr>
          <a:xfrm>
            <a:off x="552450" y="228600"/>
            <a:ext cx="11049000" cy="171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300">
                <a:solidFill>
                  <a:srgbClr val="111111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本发明技术方案</a:t>
            </a:r>
          </a:p>
        </p:txBody>
      </p:sp>
      <p:sp>
        <p:nvSpPr>
          <p:cNvPr id="116" name="GPU 内专家驻留与自主补载模块"/>
          <p:cNvSpPr txBox="1"/>
          <p:nvPr/>
        </p:nvSpPr>
        <p:spPr>
          <a:xfrm>
            <a:off x="552450" y="609600"/>
            <a:ext cx="11049000" cy="349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GPU 内专家驻留与自主补载模块</a:t>
            </a:r>
          </a:p>
        </p:txBody>
      </p:sp>
      <p:sp>
        <p:nvSpPr>
          <p:cNvPr id="117" name="04"/>
          <p:cNvSpPr txBox="1"/>
          <p:nvPr/>
        </p:nvSpPr>
        <p:spPr>
          <a:xfrm>
            <a:off x="11334750" y="6429375"/>
            <a:ext cx="381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111111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04</a:t>
            </a:r>
          </a:p>
        </p:txBody>
      </p:sp>
      <p:sp>
        <p:nvSpPr>
          <p:cNvPr id="118" name="利用同一请求、同一层的专家激活连续性，在 Prefill 后按专家亲和性组织请求并准备本地专家。在 GPU 内新增…"/>
          <p:cNvSpPr txBox="1"/>
          <p:nvPr/>
        </p:nvSpPr>
        <p:spPr>
          <a:xfrm>
            <a:off x="552450" y="1343025"/>
            <a:ext cx="11087100" cy="1799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50000"/>
              </a:lnSpc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rPr lang="en-US" sz="1600" dirty="0" err="1"/>
              <a:t>本专利</a:t>
            </a:r>
            <a:r>
              <a:rPr sz="1600" dirty="0" err="1"/>
              <a:t>利用同一请求、同一层的专家激活连续性，在</a:t>
            </a:r>
            <a:r>
              <a:rPr sz="1600" dirty="0"/>
              <a:t> Prefill </a:t>
            </a:r>
            <a:r>
              <a:rPr sz="1600" dirty="0" err="1"/>
              <a:t>后按专家亲和性组织本地专家。在</a:t>
            </a:r>
            <a:r>
              <a:rPr sz="1600" dirty="0"/>
              <a:t> GPU </a:t>
            </a:r>
            <a:r>
              <a:rPr sz="1600" dirty="0" err="1"/>
              <a:t>内新增</a:t>
            </a:r>
            <a:r>
              <a:rPr lang="zh-CN" altLang="en-US" sz="1600" dirty="0"/>
              <a:t>专家自主补载</a:t>
            </a:r>
            <a:r>
              <a:rPr sz="1600" dirty="0" err="1"/>
              <a:t>模块</a:t>
            </a:r>
            <a:r>
              <a:rPr sz="1600" dirty="0"/>
              <a:t>，</a:t>
            </a:r>
            <a:r>
              <a:rPr lang="zh-CN" altLang="en-US" sz="1600" dirty="0"/>
              <a:t>将</a:t>
            </a:r>
            <a:r>
              <a:rPr lang="zh-CN" altLang="en-US" sz="1600" dirty="0">
                <a:solidFill>
                  <a:srgbClr val="9C2F32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rPr>
              <a:t>需求与驻留动态匹配</a:t>
            </a:r>
            <a:r>
              <a:rPr lang="zh-CN" altLang="en-US" sz="1600" dirty="0"/>
              <a:t>落实到加速器内部，正常路径免去 </a:t>
            </a:r>
            <a:r>
              <a:rPr lang="en" altLang="zh-CN" sz="1600" dirty="0"/>
              <a:t>CPU </a:t>
            </a:r>
            <a:r>
              <a:rPr lang="zh-CN" altLang="en-US" sz="1600" dirty="0"/>
              <a:t>逐次调度，并按本轮真实路由校验和提交结果。</a:t>
            </a:r>
            <a:endParaRPr lang="en-US" altLang="zh-CN" sz="16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rPr lang="zh-CN" altLang="en-US" sz="1600" dirty="0"/>
              <a:t>左图：现有神经网络加速器结构，专家的驻留、判断、补载等均需由 </a:t>
            </a:r>
            <a:r>
              <a:rPr lang="en-US" altLang="zh-CN" sz="1600" dirty="0"/>
              <a:t>Host</a:t>
            </a:r>
            <a:r>
              <a:rPr lang="zh-CN" altLang="en-US" sz="1600" dirty="0"/>
              <a:t>（</a:t>
            </a:r>
            <a:r>
              <a:rPr lang="en-US" altLang="zh-CN" sz="1600" dirty="0"/>
              <a:t>CPU</a:t>
            </a:r>
            <a:r>
              <a:rPr lang="zh-CN" altLang="en-US" sz="1600" dirty="0"/>
              <a:t>）介入；</a:t>
            </a:r>
            <a:endParaRPr lang="en-US" altLang="zh-CN" sz="16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rPr lang="zh-CN" altLang="en-US" sz="1600" dirty="0"/>
              <a:t>右图：本专利方案，</a:t>
            </a:r>
            <a:r>
              <a:rPr sz="1600" dirty="0" err="1"/>
              <a:t>以需求与位置存储保存专家位图、驻留目录及远端地址，由独立</a:t>
            </a:r>
            <a:r>
              <a:rPr sz="1600" dirty="0"/>
              <a:t> Gate </a:t>
            </a:r>
            <a:r>
              <a:rPr sz="1600" dirty="0" err="1"/>
              <a:t>单元与主计算阵列并行判断本轮真实需求，再由差分控制单元检测缺失、自主提交补载并响应到达事件</a:t>
            </a:r>
            <a:r>
              <a:rPr sz="1600" dirty="0"/>
              <a:t>。</a:t>
            </a:r>
          </a:p>
        </p:txBody>
      </p:sp>
      <p:sp>
        <p:nvSpPr>
          <p:cNvPr id="119" name="硬件边界"/>
          <p:cNvSpPr/>
          <p:nvPr/>
        </p:nvSpPr>
        <p:spPr>
          <a:xfrm>
            <a:off x="6326906" y="3195782"/>
            <a:ext cx="4057865" cy="3099376"/>
          </a:xfrm>
          <a:prstGeom prst="rect">
            <a:avLst/>
          </a:prstGeom>
          <a:solidFill>
            <a:srgbClr val="FFFFFF"/>
          </a:solidFill>
          <a:ln w="12383">
            <a:solidFill>
              <a:srgbClr val="333333"/>
            </a:solidFill>
          </a:ln>
        </p:spPr>
        <p:txBody>
          <a:bodyPr lIns="0" tIns="0" rIns="0" bIns="0"/>
          <a:lstStyle/>
          <a:p>
            <a:pPr algn="l"/>
            <a:endParaRPr/>
          </a:p>
        </p:txBody>
      </p:sp>
      <p:sp>
        <p:nvSpPr>
          <p:cNvPr id="120" name="本节点 GPU / 神经网络加速器"/>
          <p:cNvSpPr txBox="1"/>
          <p:nvPr/>
        </p:nvSpPr>
        <p:spPr>
          <a:xfrm>
            <a:off x="8643430" y="5896690"/>
            <a:ext cx="1741342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1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rPr dirty="0" err="1"/>
              <a:t>神经网络加速器</a:t>
            </a:r>
            <a:endParaRPr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BAF6F88-53CA-2821-0D89-715CDD335B72}"/>
              </a:ext>
            </a:extLst>
          </p:cNvPr>
          <p:cNvGrpSpPr/>
          <p:nvPr/>
        </p:nvGrpSpPr>
        <p:grpSpPr>
          <a:xfrm>
            <a:off x="6421434" y="3469209"/>
            <a:ext cx="864548" cy="1086238"/>
            <a:chOff x="1015633" y="3828662"/>
            <a:chExt cx="1167961" cy="1086238"/>
          </a:xfrm>
        </p:grpSpPr>
        <p:sp>
          <p:nvSpPr>
            <p:cNvPr id="121" name="硬件边界"/>
            <p:cNvSpPr/>
            <p:nvPr/>
          </p:nvSpPr>
          <p:spPr>
            <a:xfrm>
              <a:off x="1015633" y="3828662"/>
              <a:ext cx="1167961" cy="1086238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333333"/>
              </a:solidFill>
            </a:ln>
          </p:spPr>
          <p:txBody>
            <a:bodyPr lIns="0" tIns="0" rIns="0" bIns="0"/>
            <a:lstStyle/>
            <a:p>
              <a:pPr algn="ctr"/>
              <a:endParaRPr/>
            </a:p>
          </p:txBody>
        </p:sp>
        <p:sp>
          <p:nvSpPr>
            <p:cNvPr id="122" name="SM / 主计算阵列"/>
            <p:cNvSpPr txBox="1"/>
            <p:nvPr/>
          </p:nvSpPr>
          <p:spPr>
            <a:xfrm>
              <a:off x="1195099" y="4102676"/>
              <a:ext cx="902276" cy="49244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l">
                <a:defRPr sz="1600">
                  <a:solidFill>
                    <a:srgbClr val="111111"/>
                  </a:solidFill>
                  <a:latin typeface="冬青黑体简体中文 W6"/>
                  <a:ea typeface="冬青黑体简体中文 W6"/>
                  <a:cs typeface="冬青黑体简体中文 W6"/>
                  <a:sym typeface="冬青黑体简体中文 W6"/>
                </a:defRPr>
              </a:lvl1pPr>
            </a:lstStyle>
            <a:p>
              <a:pPr algn="ctr"/>
              <a:r>
                <a:rPr dirty="0" err="1"/>
                <a:t>计算</a:t>
              </a:r>
              <a:endParaRPr lang="en-US" dirty="0"/>
            </a:p>
            <a:p>
              <a:pPr algn="ctr"/>
              <a:r>
                <a:rPr dirty="0" err="1"/>
                <a:t>阵列</a:t>
              </a:r>
              <a:endParaRPr dirty="0"/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571D5C08-F42B-89F6-3C0E-6969020E80BD}"/>
              </a:ext>
            </a:extLst>
          </p:cNvPr>
          <p:cNvGrpSpPr/>
          <p:nvPr/>
        </p:nvGrpSpPr>
        <p:grpSpPr>
          <a:xfrm>
            <a:off x="7475025" y="3439989"/>
            <a:ext cx="2629111" cy="2102694"/>
            <a:chOff x="7151754" y="3439989"/>
            <a:chExt cx="2629111" cy="2102694"/>
          </a:xfrm>
        </p:grpSpPr>
        <p:sp>
          <p:nvSpPr>
            <p:cNvPr id="126" name="硬件边界"/>
            <p:cNvSpPr/>
            <p:nvPr/>
          </p:nvSpPr>
          <p:spPr>
            <a:xfrm>
              <a:off x="7151754" y="3439989"/>
              <a:ext cx="2629111" cy="2102694"/>
            </a:xfrm>
            <a:prstGeom prst="rect">
              <a:avLst/>
            </a:prstGeom>
            <a:solidFill>
              <a:srgbClr val="F5F5F5"/>
            </a:solidFill>
            <a:ln w="12383">
              <a:solidFill>
                <a:srgbClr val="333333"/>
              </a:solidFill>
            </a:ln>
          </p:spPr>
          <p:txBody>
            <a:bodyPr lIns="0" tIns="0" rIns="0" bIns="0"/>
            <a:lstStyle/>
            <a:p>
              <a:pPr algn="ctr"/>
              <a:endParaRPr/>
            </a:p>
          </p:txBody>
        </p:sp>
        <p:sp>
          <p:nvSpPr>
            <p:cNvPr id="127" name="新增：专家驻留与自主补载模块"/>
            <p:cNvSpPr txBox="1"/>
            <p:nvPr/>
          </p:nvSpPr>
          <p:spPr>
            <a:xfrm>
              <a:off x="7313680" y="3535526"/>
              <a:ext cx="2264497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l">
                <a:defRPr sz="1600">
                  <a:solidFill>
                    <a:srgbClr val="111111"/>
                  </a:solidFill>
                  <a:latin typeface="冬青黑体简体中文 W6"/>
                  <a:ea typeface="冬青黑体简体中文 W6"/>
                  <a:cs typeface="冬青黑体简体中文 W6"/>
                  <a:sym typeface="冬青黑体简体中文 W6"/>
                </a:defRPr>
              </a:lvl1pPr>
            </a:lstStyle>
            <a:p>
              <a:pPr algn="ctr"/>
              <a:r>
                <a:rPr dirty="0" err="1"/>
                <a:t>专家驻留与自主补载模块</a:t>
              </a:r>
              <a:endParaRPr dirty="0"/>
            </a:p>
          </p:txBody>
        </p:sp>
        <p:grpSp>
          <p:nvGrpSpPr>
            <p:cNvPr id="130" name="独立 Gate 单元真实 ID / 权重"/>
            <p:cNvGrpSpPr/>
            <p:nvPr/>
          </p:nvGrpSpPr>
          <p:grpSpPr>
            <a:xfrm>
              <a:off x="7313679" y="3905499"/>
              <a:ext cx="962947" cy="507831"/>
              <a:chOff x="0" y="6435"/>
              <a:chExt cx="1771650" cy="507829"/>
            </a:xfrm>
          </p:grpSpPr>
          <p:sp>
            <p:nvSpPr>
              <p:cNvPr id="128" name="矩形"/>
              <p:cNvSpPr/>
              <p:nvPr/>
            </p:nvSpPr>
            <p:spPr>
              <a:xfrm>
                <a:off x="0" y="7937"/>
                <a:ext cx="1771650" cy="504826"/>
              </a:xfrm>
              <a:prstGeom prst="rect">
                <a:avLst/>
              </a:prstGeom>
              <a:solidFill>
                <a:srgbClr val="FFFFFF"/>
              </a:solidFill>
              <a:ln w="12383" cap="flat">
                <a:solidFill>
                  <a:srgbClr val="333333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400">
                    <a:solidFill>
                      <a:srgbClr val="111111"/>
                    </a:solidFill>
                    <a:latin typeface="冬青黑体简体中文 W3"/>
                    <a:ea typeface="冬青黑体简体中文 W3"/>
                    <a:cs typeface="冬青黑体简体中文 W3"/>
                    <a:sym typeface="冬青黑体简体中文 W3"/>
                  </a:defRPr>
                </a:pPr>
                <a:endParaRPr/>
              </a:p>
            </p:txBody>
          </p:sp>
          <p:sp>
            <p:nvSpPr>
              <p:cNvPr id="129" name="独立 Gate 单元…"/>
              <p:cNvSpPr txBox="1"/>
              <p:nvPr/>
            </p:nvSpPr>
            <p:spPr>
              <a:xfrm>
                <a:off x="6191" y="6435"/>
                <a:ext cx="1759268" cy="50782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/>
              <a:p>
                <a:pPr algn="ctr">
                  <a:defRPr sz="1400">
                    <a:solidFill>
                      <a:srgbClr val="111111"/>
                    </a:solidFill>
                    <a:latin typeface="冬青黑体简体中文 W3"/>
                    <a:ea typeface="冬青黑体简体中文 W3"/>
                    <a:cs typeface="冬青黑体简体中文 W3"/>
                    <a:sym typeface="冬青黑体简体中文 W3"/>
                  </a:defRPr>
                </a:pPr>
                <a:r>
                  <a:rPr dirty="0" err="1"/>
                  <a:t>独立</a:t>
                </a:r>
                <a:r>
                  <a:rPr dirty="0"/>
                  <a:t> Gate </a:t>
                </a:r>
                <a:r>
                  <a:rPr lang="zh-CN" altLang="en-US" dirty="0"/>
                  <a:t>计算</a:t>
                </a:r>
                <a:r>
                  <a:rPr dirty="0" err="1"/>
                  <a:t>单元</a:t>
                </a:r>
                <a:endParaRPr dirty="0"/>
              </a:p>
            </p:txBody>
          </p:sp>
        </p:grpSp>
        <p:grpSp>
          <p:nvGrpSpPr>
            <p:cNvPr id="133" name="驻留差分与控制单元复制提交 / 就绪唤醒 / 校验"/>
            <p:cNvGrpSpPr/>
            <p:nvPr/>
          </p:nvGrpSpPr>
          <p:grpSpPr>
            <a:xfrm>
              <a:off x="8620855" y="3907002"/>
              <a:ext cx="962946" cy="504825"/>
              <a:chOff x="0" y="0"/>
              <a:chExt cx="2457450" cy="504825"/>
            </a:xfrm>
          </p:grpSpPr>
          <p:sp>
            <p:nvSpPr>
              <p:cNvPr id="131" name="矩形"/>
              <p:cNvSpPr/>
              <p:nvPr/>
            </p:nvSpPr>
            <p:spPr>
              <a:xfrm>
                <a:off x="0" y="0"/>
                <a:ext cx="2457450" cy="504825"/>
              </a:xfrm>
              <a:prstGeom prst="rect">
                <a:avLst/>
              </a:prstGeom>
              <a:solidFill>
                <a:srgbClr val="FFFFFF"/>
              </a:solidFill>
              <a:ln w="12383" cap="flat">
                <a:solidFill>
                  <a:srgbClr val="333333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300">
                    <a:solidFill>
                      <a:srgbClr val="111111"/>
                    </a:solidFill>
                    <a:latin typeface="冬青黑体简体中文 W3"/>
                    <a:ea typeface="冬青黑体简体中文 W3"/>
                    <a:cs typeface="冬青黑体简体中文 W3"/>
                    <a:sym typeface="冬青黑体简体中文 W3"/>
                  </a:defRPr>
                </a:pPr>
                <a:endParaRPr/>
              </a:p>
            </p:txBody>
          </p:sp>
          <p:sp>
            <p:nvSpPr>
              <p:cNvPr id="132" name="驻留差分与控制单元…"/>
              <p:cNvSpPr txBox="1"/>
              <p:nvPr/>
            </p:nvSpPr>
            <p:spPr>
              <a:xfrm>
                <a:off x="6191" y="13885"/>
                <a:ext cx="2445068" cy="4770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/>
              <a:p>
                <a:pPr algn="ctr">
                  <a:defRPr sz="1300">
                    <a:solidFill>
                      <a:srgbClr val="111111"/>
                    </a:solidFill>
                    <a:latin typeface="冬青黑体简体中文 W3"/>
                    <a:ea typeface="冬青黑体简体中文 W3"/>
                    <a:cs typeface="冬青黑体简体中文 W3"/>
                    <a:sym typeface="冬青黑体简体中文 W3"/>
                  </a:defRPr>
                </a:pPr>
                <a:r>
                  <a:rPr dirty="0" err="1"/>
                  <a:t>驻留差分与控制单元</a:t>
                </a:r>
                <a:endParaRPr dirty="0"/>
              </a:p>
            </p:txBody>
          </p:sp>
        </p:grpSp>
        <p:grpSp>
          <p:nvGrpSpPr>
            <p:cNvPr id="136" name="片上 SRAM：需求位图、驻留目录、源地址、在途状态"/>
            <p:cNvGrpSpPr/>
            <p:nvPr/>
          </p:nvGrpSpPr>
          <p:grpSpPr>
            <a:xfrm>
              <a:off x="7313680" y="4573752"/>
              <a:ext cx="2267695" cy="855016"/>
              <a:chOff x="0" y="0"/>
              <a:chExt cx="4391025" cy="381000"/>
            </a:xfrm>
          </p:grpSpPr>
          <p:sp>
            <p:nvSpPr>
              <p:cNvPr id="134" name="矩形"/>
              <p:cNvSpPr/>
              <p:nvPr/>
            </p:nvSpPr>
            <p:spPr>
              <a:xfrm>
                <a:off x="0" y="0"/>
                <a:ext cx="4391025" cy="381000"/>
              </a:xfrm>
              <a:prstGeom prst="rect">
                <a:avLst/>
              </a:prstGeom>
              <a:solidFill>
                <a:srgbClr val="FFFFFF"/>
              </a:solidFill>
              <a:ln w="12383" cap="flat">
                <a:solidFill>
                  <a:srgbClr val="333333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rgbClr val="111111"/>
                    </a:solidFill>
                    <a:latin typeface="冬青黑体简体中文 W3"/>
                    <a:ea typeface="冬青黑体简体中文 W3"/>
                    <a:cs typeface="冬青黑体简体中文 W3"/>
                    <a:sym typeface="冬青黑体简体中文 W3"/>
                  </a:defRPr>
                </a:pPr>
                <a:endParaRPr/>
              </a:p>
            </p:txBody>
          </p:sp>
          <p:sp>
            <p:nvSpPr>
              <p:cNvPr id="135" name="片上 SRAM：需求位图、驻留目录、源地址、在途状态"/>
              <p:cNvSpPr txBox="1"/>
              <p:nvPr/>
            </p:nvSpPr>
            <p:spPr>
              <a:xfrm>
                <a:off x="6190" y="91068"/>
                <a:ext cx="4378642" cy="1988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algn="l">
                  <a:defRPr sz="1200">
                    <a:solidFill>
                      <a:srgbClr val="111111"/>
                    </a:solidFill>
                    <a:latin typeface="冬青黑体简体中文 W3"/>
                    <a:ea typeface="冬青黑体简体中文 W3"/>
                    <a:cs typeface="冬青黑体简体中文 W3"/>
                    <a:sym typeface="冬青黑体简体中文 W3"/>
                  </a:defRPr>
                </a:lvl1pPr>
              </a:lstStyle>
              <a:p>
                <a:pPr algn="ctr"/>
                <a:r>
                  <a:rPr dirty="0" err="1"/>
                  <a:t>片上</a:t>
                </a:r>
                <a:r>
                  <a:rPr dirty="0"/>
                  <a:t> </a:t>
                </a:r>
                <a:r>
                  <a:rPr dirty="0" err="1"/>
                  <a:t>SRAM：需求位图、驻留目录、在途状态</a:t>
                </a:r>
                <a:endParaRPr dirty="0"/>
              </a:p>
            </p:txBody>
          </p:sp>
        </p:grpSp>
      </p:grpSp>
      <p:grpSp>
        <p:nvGrpSpPr>
          <p:cNvPr id="147" name="本地 HBM专家权重、KV 与结果缓冲"/>
          <p:cNvGrpSpPr/>
          <p:nvPr/>
        </p:nvGrpSpPr>
        <p:grpSpPr>
          <a:xfrm>
            <a:off x="6419271" y="5428768"/>
            <a:ext cx="869092" cy="694941"/>
            <a:chOff x="1" y="34924"/>
            <a:chExt cx="1184115" cy="495301"/>
          </a:xfrm>
        </p:grpSpPr>
        <p:sp>
          <p:nvSpPr>
            <p:cNvPr id="145" name="矩形"/>
            <p:cNvSpPr/>
            <p:nvPr/>
          </p:nvSpPr>
          <p:spPr>
            <a:xfrm>
              <a:off x="1" y="34924"/>
              <a:ext cx="1177924" cy="495301"/>
            </a:xfrm>
            <a:prstGeom prst="rect">
              <a:avLst/>
            </a:prstGeom>
            <a:solidFill>
              <a:srgbClr val="FFFFFF"/>
            </a:solidFill>
            <a:ln w="12383" cap="flat">
              <a:solidFill>
                <a:srgbClr val="33333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500">
                  <a:solidFill>
                    <a:srgbClr val="111111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endParaRPr/>
            </a:p>
          </p:txBody>
        </p:sp>
        <p:sp>
          <p:nvSpPr>
            <p:cNvPr id="146" name="本地 HBM…"/>
            <p:cNvSpPr txBox="1"/>
            <p:nvPr/>
          </p:nvSpPr>
          <p:spPr>
            <a:xfrm>
              <a:off x="6192" y="212405"/>
              <a:ext cx="1177924" cy="1403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100" tIns="38100" rIns="38100" bIns="38100" numCol="1" anchor="ctr">
              <a:spAutoFit/>
            </a:bodyPr>
            <a:lstStyle/>
            <a:p>
              <a:pPr algn="ctr">
                <a:defRPr sz="1500">
                  <a:solidFill>
                    <a:srgbClr val="111111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rPr dirty="0"/>
                <a:t>HBM</a:t>
              </a:r>
            </a:p>
          </p:txBody>
        </p:sp>
      </p:grpSp>
      <p:grpSp>
        <p:nvGrpSpPr>
          <p:cNvPr id="155" name="远端节点 / GPUHBM 专家源副本"/>
          <p:cNvGrpSpPr/>
          <p:nvPr/>
        </p:nvGrpSpPr>
        <p:grpSpPr>
          <a:xfrm>
            <a:off x="10645484" y="3653194"/>
            <a:ext cx="1012537" cy="1679703"/>
            <a:chOff x="0" y="0"/>
            <a:chExt cx="1524000" cy="790575"/>
          </a:xfrm>
        </p:grpSpPr>
        <p:sp>
          <p:nvSpPr>
            <p:cNvPr id="153" name="矩形"/>
            <p:cNvSpPr/>
            <p:nvPr/>
          </p:nvSpPr>
          <p:spPr>
            <a:xfrm>
              <a:off x="0" y="0"/>
              <a:ext cx="1524000" cy="790575"/>
            </a:xfrm>
            <a:prstGeom prst="rect">
              <a:avLst/>
            </a:prstGeom>
            <a:solidFill>
              <a:srgbClr val="FFFFFF"/>
            </a:solidFill>
            <a:ln w="12383" cap="flat">
              <a:solidFill>
                <a:srgbClr val="33333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600">
                  <a:solidFill>
                    <a:srgbClr val="111111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endParaRPr/>
            </a:p>
          </p:txBody>
        </p:sp>
        <p:sp>
          <p:nvSpPr>
            <p:cNvPr id="154" name="远端节点 / GPU…"/>
            <p:cNvSpPr txBox="1"/>
            <p:nvPr/>
          </p:nvSpPr>
          <p:spPr>
            <a:xfrm>
              <a:off x="6191" y="203349"/>
              <a:ext cx="1517809" cy="3838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100" tIns="38100" rIns="38100" bIns="38100" numCol="1" anchor="ctr">
              <a:spAutoFit/>
            </a:bodyPr>
            <a:lstStyle/>
            <a:p>
              <a:pPr algn="ctr">
                <a:defRPr sz="1600">
                  <a:solidFill>
                    <a:srgbClr val="111111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rPr dirty="0" err="1"/>
                <a:t>远端</a:t>
              </a:r>
              <a:r>
                <a:rPr dirty="0"/>
                <a:t> / </a:t>
              </a:r>
              <a:r>
                <a:rPr lang="en-US" altLang="zh-CN" dirty="0"/>
                <a:t>Flash</a:t>
              </a:r>
              <a:r>
                <a:rPr dirty="0"/>
                <a:t> </a:t>
              </a:r>
              <a:endParaRPr lang="en-US" dirty="0"/>
            </a:p>
            <a:p>
              <a:pPr algn="ctr">
                <a:defRPr sz="1600">
                  <a:solidFill>
                    <a:srgbClr val="111111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rPr dirty="0" err="1"/>
                <a:t>专家副本</a:t>
              </a:r>
              <a:endParaRPr dirty="0"/>
            </a:p>
          </p:txBody>
        </p:sp>
      </p:grpSp>
      <p:cxnSp>
        <p:nvCxnSpPr>
          <p:cNvPr id="6" name="肘形连接符 5">
            <a:extLst>
              <a:ext uri="{FF2B5EF4-FFF2-40B4-BE49-F238E27FC236}">
                <a16:creationId xmlns:a16="http://schemas.microsoft.com/office/drawing/2014/main" id="{4DBBB137-A8DD-672F-C507-07ADFEEFD0BB}"/>
              </a:ext>
            </a:extLst>
          </p:cNvPr>
          <p:cNvCxnSpPr>
            <a:cxnSpLocks/>
            <a:stCxn id="126" idx="2"/>
            <a:endCxn id="146" idx="3"/>
          </p:cNvCxnSpPr>
          <p:nvPr/>
        </p:nvCxnSpPr>
        <p:spPr>
          <a:xfrm rot="5400000">
            <a:off x="7922194" y="4908852"/>
            <a:ext cx="233557" cy="1501218"/>
          </a:xfrm>
          <a:prstGeom prst="bentConnector2">
            <a:avLst/>
          </a:prstGeom>
          <a:noFill/>
          <a:ln w="1905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9414C7DD-3D8F-00E0-AF8C-7851A5FC7592}"/>
              </a:ext>
            </a:extLst>
          </p:cNvPr>
          <p:cNvCxnSpPr>
            <a:stCxn id="121" idx="2"/>
            <a:endCxn id="145" idx="0"/>
          </p:cNvCxnSpPr>
          <p:nvPr/>
        </p:nvCxnSpPr>
        <p:spPr>
          <a:xfrm flipH="1">
            <a:off x="6851545" y="4555447"/>
            <a:ext cx="2163" cy="873321"/>
          </a:xfrm>
          <a:prstGeom prst="straightConnector1">
            <a:avLst/>
          </a:prstGeom>
          <a:noFill/>
          <a:ln w="1905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17A29BA1-10D3-E01D-3A70-102296A3C450}"/>
              </a:ext>
            </a:extLst>
          </p:cNvPr>
          <p:cNvCxnSpPr>
            <a:cxnSpLocks/>
            <a:stCxn id="126" idx="3"/>
            <a:endCxn id="154" idx="1"/>
          </p:cNvCxnSpPr>
          <p:nvPr/>
        </p:nvCxnSpPr>
        <p:spPr>
          <a:xfrm>
            <a:off x="10104136" y="4491336"/>
            <a:ext cx="545461" cy="1709"/>
          </a:xfrm>
          <a:prstGeom prst="straightConnector1">
            <a:avLst/>
          </a:prstGeom>
          <a:noFill/>
          <a:ln w="19050" cap="flat">
            <a:solidFill>
              <a:schemeClr val="accent1"/>
            </a:solidFill>
            <a:prstDash val="solid"/>
            <a:round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2" name="硬件边界">
            <a:extLst>
              <a:ext uri="{FF2B5EF4-FFF2-40B4-BE49-F238E27FC236}">
                <a16:creationId xmlns:a16="http://schemas.microsoft.com/office/drawing/2014/main" id="{D4DBCE08-987B-D954-2215-16A74B9D7D92}"/>
              </a:ext>
            </a:extLst>
          </p:cNvPr>
          <p:cNvSpPr/>
          <p:nvPr/>
        </p:nvSpPr>
        <p:spPr>
          <a:xfrm>
            <a:off x="1218016" y="3195782"/>
            <a:ext cx="1739695" cy="3099376"/>
          </a:xfrm>
          <a:prstGeom prst="rect">
            <a:avLst/>
          </a:prstGeom>
          <a:solidFill>
            <a:srgbClr val="FFFFFF"/>
          </a:solidFill>
          <a:ln w="12383">
            <a:solidFill>
              <a:srgbClr val="333333"/>
            </a:solidFill>
          </a:ln>
        </p:spPr>
        <p:txBody>
          <a:bodyPr lIns="0" tIns="0" rIns="0" bIns="0"/>
          <a:lstStyle/>
          <a:p>
            <a:pPr algn="l"/>
            <a:endParaRPr/>
          </a:p>
        </p:txBody>
      </p:sp>
      <p:sp>
        <p:nvSpPr>
          <p:cNvPr id="163" name="本节点 GPU / 神经网络加速器">
            <a:extLst>
              <a:ext uri="{FF2B5EF4-FFF2-40B4-BE49-F238E27FC236}">
                <a16:creationId xmlns:a16="http://schemas.microsoft.com/office/drawing/2014/main" id="{CE0EDD40-5F94-CFE5-CAAC-7487E7B0D7A8}"/>
              </a:ext>
            </a:extLst>
          </p:cNvPr>
          <p:cNvSpPr txBox="1"/>
          <p:nvPr/>
        </p:nvSpPr>
        <p:spPr>
          <a:xfrm>
            <a:off x="1310381" y="3338403"/>
            <a:ext cx="1741342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1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rPr dirty="0" err="1"/>
              <a:t>神经网络加速器</a:t>
            </a:r>
            <a:endParaRPr dirty="0"/>
          </a:p>
        </p:txBody>
      </p: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D611D79A-F622-3DB0-2902-1157BADF9CAB}"/>
              </a:ext>
            </a:extLst>
          </p:cNvPr>
          <p:cNvGrpSpPr/>
          <p:nvPr/>
        </p:nvGrpSpPr>
        <p:grpSpPr>
          <a:xfrm>
            <a:off x="1312543" y="3756086"/>
            <a:ext cx="1373767" cy="1086238"/>
            <a:chOff x="1015633" y="3828662"/>
            <a:chExt cx="1167961" cy="1086238"/>
          </a:xfrm>
        </p:grpSpPr>
        <p:sp>
          <p:nvSpPr>
            <p:cNvPr id="165" name="硬件边界">
              <a:extLst>
                <a:ext uri="{FF2B5EF4-FFF2-40B4-BE49-F238E27FC236}">
                  <a16:creationId xmlns:a16="http://schemas.microsoft.com/office/drawing/2014/main" id="{B8D3B7E6-3C8E-AC1D-E688-F6633396C8E0}"/>
                </a:ext>
              </a:extLst>
            </p:cNvPr>
            <p:cNvSpPr/>
            <p:nvPr/>
          </p:nvSpPr>
          <p:spPr>
            <a:xfrm>
              <a:off x="1015633" y="3828662"/>
              <a:ext cx="1167961" cy="1086238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333333"/>
              </a:solidFill>
            </a:ln>
          </p:spPr>
          <p:txBody>
            <a:bodyPr lIns="0" tIns="0" rIns="0" bIns="0"/>
            <a:lstStyle/>
            <a:p>
              <a:pPr algn="ctr"/>
              <a:endParaRPr/>
            </a:p>
          </p:txBody>
        </p:sp>
        <p:sp>
          <p:nvSpPr>
            <p:cNvPr id="166" name="SM / 主计算阵列">
              <a:extLst>
                <a:ext uri="{FF2B5EF4-FFF2-40B4-BE49-F238E27FC236}">
                  <a16:creationId xmlns:a16="http://schemas.microsoft.com/office/drawing/2014/main" id="{6ABDEAD0-F1D4-AA69-9E21-8A9034CAD0FE}"/>
                </a:ext>
              </a:extLst>
            </p:cNvPr>
            <p:cNvSpPr txBox="1"/>
            <p:nvPr/>
          </p:nvSpPr>
          <p:spPr>
            <a:xfrm>
              <a:off x="1019900" y="4241221"/>
              <a:ext cx="1145960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l">
                <a:defRPr sz="1600">
                  <a:solidFill>
                    <a:srgbClr val="111111"/>
                  </a:solidFill>
                  <a:latin typeface="冬青黑体简体中文 W6"/>
                  <a:ea typeface="冬青黑体简体中文 W6"/>
                  <a:cs typeface="冬青黑体简体中文 W6"/>
                  <a:sym typeface="冬青黑体简体中文 W6"/>
                </a:defRPr>
              </a:lvl1pPr>
            </a:lstStyle>
            <a:p>
              <a:pPr algn="ctr"/>
              <a:r>
                <a:rPr dirty="0" err="1"/>
                <a:t>计算阵列</a:t>
              </a:r>
              <a:endParaRPr dirty="0"/>
            </a:p>
          </p:txBody>
        </p:sp>
      </p:grpSp>
      <p:grpSp>
        <p:nvGrpSpPr>
          <p:cNvPr id="179" name="本地 HBM专家权重、KV 与结果缓冲">
            <a:extLst>
              <a:ext uri="{FF2B5EF4-FFF2-40B4-BE49-F238E27FC236}">
                <a16:creationId xmlns:a16="http://schemas.microsoft.com/office/drawing/2014/main" id="{9268FA7C-0688-66DB-8DCA-7880CD223B48}"/>
              </a:ext>
            </a:extLst>
          </p:cNvPr>
          <p:cNvGrpSpPr/>
          <p:nvPr/>
        </p:nvGrpSpPr>
        <p:grpSpPr>
          <a:xfrm>
            <a:off x="1310380" y="5428768"/>
            <a:ext cx="1373767" cy="694941"/>
            <a:chOff x="1" y="34924"/>
            <a:chExt cx="1184115" cy="495301"/>
          </a:xfrm>
        </p:grpSpPr>
        <p:sp>
          <p:nvSpPr>
            <p:cNvPr id="180" name="矩形">
              <a:extLst>
                <a:ext uri="{FF2B5EF4-FFF2-40B4-BE49-F238E27FC236}">
                  <a16:creationId xmlns:a16="http://schemas.microsoft.com/office/drawing/2014/main" id="{8D2C76EC-1911-30B7-9761-57521161C6F4}"/>
                </a:ext>
              </a:extLst>
            </p:cNvPr>
            <p:cNvSpPr/>
            <p:nvPr/>
          </p:nvSpPr>
          <p:spPr>
            <a:xfrm>
              <a:off x="1" y="34924"/>
              <a:ext cx="1177924" cy="495301"/>
            </a:xfrm>
            <a:prstGeom prst="rect">
              <a:avLst/>
            </a:prstGeom>
            <a:solidFill>
              <a:srgbClr val="FFFFFF"/>
            </a:solidFill>
            <a:ln w="12383" cap="flat">
              <a:solidFill>
                <a:srgbClr val="33333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500">
                  <a:solidFill>
                    <a:srgbClr val="111111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endParaRPr/>
            </a:p>
          </p:txBody>
        </p:sp>
        <p:sp>
          <p:nvSpPr>
            <p:cNvPr id="181" name="本地 HBM…">
              <a:extLst>
                <a:ext uri="{FF2B5EF4-FFF2-40B4-BE49-F238E27FC236}">
                  <a16:creationId xmlns:a16="http://schemas.microsoft.com/office/drawing/2014/main" id="{0B49BA16-2265-4DC1-468C-6499FCEF061C}"/>
                </a:ext>
              </a:extLst>
            </p:cNvPr>
            <p:cNvSpPr txBox="1"/>
            <p:nvPr/>
          </p:nvSpPr>
          <p:spPr>
            <a:xfrm>
              <a:off x="6192" y="212405"/>
              <a:ext cx="1177924" cy="1403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100" tIns="38100" rIns="38100" bIns="38100" numCol="1" anchor="ctr">
              <a:spAutoFit/>
            </a:bodyPr>
            <a:lstStyle/>
            <a:p>
              <a:pPr algn="ctr">
                <a:defRPr sz="1500">
                  <a:solidFill>
                    <a:srgbClr val="111111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rPr dirty="0"/>
                <a:t>HBM</a:t>
              </a:r>
            </a:p>
          </p:txBody>
        </p:sp>
      </p:grpSp>
      <p:grpSp>
        <p:nvGrpSpPr>
          <p:cNvPr id="182" name="远端节点 / GPUHBM 专家源副本">
            <a:extLst>
              <a:ext uri="{FF2B5EF4-FFF2-40B4-BE49-F238E27FC236}">
                <a16:creationId xmlns:a16="http://schemas.microsoft.com/office/drawing/2014/main" id="{D835502E-BBAF-13CC-5C16-772B0E0DF518}"/>
              </a:ext>
            </a:extLst>
          </p:cNvPr>
          <p:cNvGrpSpPr/>
          <p:nvPr/>
        </p:nvGrpSpPr>
        <p:grpSpPr>
          <a:xfrm>
            <a:off x="3838041" y="3266864"/>
            <a:ext cx="1012537" cy="1679703"/>
            <a:chOff x="0" y="0"/>
            <a:chExt cx="1524000" cy="790575"/>
          </a:xfrm>
        </p:grpSpPr>
        <p:sp>
          <p:nvSpPr>
            <p:cNvPr id="183" name="矩形">
              <a:extLst>
                <a:ext uri="{FF2B5EF4-FFF2-40B4-BE49-F238E27FC236}">
                  <a16:creationId xmlns:a16="http://schemas.microsoft.com/office/drawing/2014/main" id="{308D9162-7E30-BC7F-2E1E-253C8497C027}"/>
                </a:ext>
              </a:extLst>
            </p:cNvPr>
            <p:cNvSpPr/>
            <p:nvPr/>
          </p:nvSpPr>
          <p:spPr>
            <a:xfrm>
              <a:off x="0" y="0"/>
              <a:ext cx="1524000" cy="790575"/>
            </a:xfrm>
            <a:prstGeom prst="rect">
              <a:avLst/>
            </a:prstGeom>
            <a:solidFill>
              <a:srgbClr val="FFFFFF"/>
            </a:solidFill>
            <a:ln w="12383" cap="flat">
              <a:solidFill>
                <a:srgbClr val="33333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600">
                  <a:solidFill>
                    <a:srgbClr val="111111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endParaRPr/>
            </a:p>
          </p:txBody>
        </p:sp>
        <p:sp>
          <p:nvSpPr>
            <p:cNvPr id="184" name="远端节点 / GPU…">
              <a:extLst>
                <a:ext uri="{FF2B5EF4-FFF2-40B4-BE49-F238E27FC236}">
                  <a16:creationId xmlns:a16="http://schemas.microsoft.com/office/drawing/2014/main" id="{D8FFBB42-51EA-3703-65C1-CE088C99814F}"/>
                </a:ext>
              </a:extLst>
            </p:cNvPr>
            <p:cNvSpPr txBox="1"/>
            <p:nvPr/>
          </p:nvSpPr>
          <p:spPr>
            <a:xfrm>
              <a:off x="6191" y="203349"/>
              <a:ext cx="1517809" cy="3838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100" tIns="38100" rIns="38100" bIns="38100" numCol="1" anchor="ctr">
              <a:spAutoFit/>
            </a:bodyPr>
            <a:lstStyle/>
            <a:p>
              <a:pPr algn="ctr">
                <a:defRPr sz="1600">
                  <a:solidFill>
                    <a:srgbClr val="111111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rPr dirty="0" err="1"/>
                <a:t>远端</a:t>
              </a:r>
              <a:r>
                <a:rPr dirty="0"/>
                <a:t> / </a:t>
              </a:r>
              <a:r>
                <a:rPr lang="en-US" altLang="zh-CN" dirty="0"/>
                <a:t>Flash</a:t>
              </a:r>
              <a:r>
                <a:rPr dirty="0"/>
                <a:t> </a:t>
              </a:r>
              <a:endParaRPr lang="en-US" dirty="0"/>
            </a:p>
            <a:p>
              <a:pPr algn="ctr">
                <a:defRPr sz="1600">
                  <a:solidFill>
                    <a:srgbClr val="111111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rPr dirty="0" err="1"/>
                <a:t>专家副本</a:t>
              </a:r>
              <a:endParaRPr dirty="0"/>
            </a:p>
          </p:txBody>
        </p:sp>
      </p:grpSp>
      <p:cxnSp>
        <p:nvCxnSpPr>
          <p:cNvPr id="186" name="直线箭头连接符 185">
            <a:extLst>
              <a:ext uri="{FF2B5EF4-FFF2-40B4-BE49-F238E27FC236}">
                <a16:creationId xmlns:a16="http://schemas.microsoft.com/office/drawing/2014/main" id="{645F835D-1CC0-CFE6-BD5A-B3B4FF528C96}"/>
              </a:ext>
            </a:extLst>
          </p:cNvPr>
          <p:cNvCxnSpPr>
            <a:stCxn id="165" idx="2"/>
            <a:endCxn id="180" idx="0"/>
          </p:cNvCxnSpPr>
          <p:nvPr/>
        </p:nvCxnSpPr>
        <p:spPr>
          <a:xfrm flipH="1">
            <a:off x="1993672" y="4842324"/>
            <a:ext cx="5755" cy="586444"/>
          </a:xfrm>
          <a:prstGeom prst="straightConnector1">
            <a:avLst/>
          </a:prstGeom>
          <a:noFill/>
          <a:ln w="1905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90" name="本地 HBM专家权重、KV 与结果缓冲">
            <a:extLst>
              <a:ext uri="{FF2B5EF4-FFF2-40B4-BE49-F238E27FC236}">
                <a16:creationId xmlns:a16="http://schemas.microsoft.com/office/drawing/2014/main" id="{5ED6DCBE-F26B-CE28-6262-DAF4929735CD}"/>
              </a:ext>
            </a:extLst>
          </p:cNvPr>
          <p:cNvGrpSpPr/>
          <p:nvPr/>
        </p:nvGrpSpPr>
        <p:grpSpPr>
          <a:xfrm>
            <a:off x="3661018" y="5427062"/>
            <a:ext cx="1373767" cy="694941"/>
            <a:chOff x="1" y="34924"/>
            <a:chExt cx="1184115" cy="495301"/>
          </a:xfrm>
        </p:grpSpPr>
        <p:sp>
          <p:nvSpPr>
            <p:cNvPr id="191" name="矩形">
              <a:extLst>
                <a:ext uri="{FF2B5EF4-FFF2-40B4-BE49-F238E27FC236}">
                  <a16:creationId xmlns:a16="http://schemas.microsoft.com/office/drawing/2014/main" id="{BBAC333A-6202-E993-E749-22A2EC985E7B}"/>
                </a:ext>
              </a:extLst>
            </p:cNvPr>
            <p:cNvSpPr/>
            <p:nvPr/>
          </p:nvSpPr>
          <p:spPr>
            <a:xfrm>
              <a:off x="1" y="34924"/>
              <a:ext cx="1177924" cy="495301"/>
            </a:xfrm>
            <a:prstGeom prst="rect">
              <a:avLst/>
            </a:prstGeom>
            <a:solidFill>
              <a:srgbClr val="FFFFFF"/>
            </a:solidFill>
            <a:ln w="12383" cap="flat">
              <a:solidFill>
                <a:srgbClr val="33333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500">
                  <a:solidFill>
                    <a:srgbClr val="111111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endParaRPr/>
            </a:p>
          </p:txBody>
        </p:sp>
        <p:sp>
          <p:nvSpPr>
            <p:cNvPr id="192" name="本地 HBM…">
              <a:extLst>
                <a:ext uri="{FF2B5EF4-FFF2-40B4-BE49-F238E27FC236}">
                  <a16:creationId xmlns:a16="http://schemas.microsoft.com/office/drawing/2014/main" id="{E51CD689-737B-1EED-238F-4262E827C234}"/>
                </a:ext>
              </a:extLst>
            </p:cNvPr>
            <p:cNvSpPr txBox="1"/>
            <p:nvPr/>
          </p:nvSpPr>
          <p:spPr>
            <a:xfrm>
              <a:off x="6192" y="90635"/>
              <a:ext cx="1177924" cy="3838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100" tIns="38100" rIns="38100" bIns="38100" numCol="1" anchor="ctr">
              <a:spAutoFit/>
            </a:bodyPr>
            <a:lstStyle/>
            <a:p>
              <a:pPr algn="ctr">
                <a:defRPr sz="1500">
                  <a:solidFill>
                    <a:srgbClr val="111111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rPr lang="en-US" dirty="0"/>
                <a:t>Host / </a:t>
              </a:r>
            </a:p>
            <a:p>
              <a:pPr algn="ctr">
                <a:defRPr sz="1500">
                  <a:solidFill>
                    <a:srgbClr val="111111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rPr lang="en-US" dirty="0"/>
                <a:t>CPU</a:t>
              </a:r>
              <a:endParaRPr dirty="0"/>
            </a:p>
          </p:txBody>
        </p:sp>
      </p:grpSp>
      <p:cxnSp>
        <p:nvCxnSpPr>
          <p:cNvPr id="195" name="直线箭头连接符 194">
            <a:extLst>
              <a:ext uri="{FF2B5EF4-FFF2-40B4-BE49-F238E27FC236}">
                <a16:creationId xmlns:a16="http://schemas.microsoft.com/office/drawing/2014/main" id="{7E920416-A260-E1F2-EB60-7037EA9A74D0}"/>
              </a:ext>
            </a:extLst>
          </p:cNvPr>
          <p:cNvCxnSpPr>
            <a:cxnSpLocks/>
            <a:stCxn id="191" idx="1"/>
            <a:endCxn id="181" idx="3"/>
          </p:cNvCxnSpPr>
          <p:nvPr/>
        </p:nvCxnSpPr>
        <p:spPr>
          <a:xfrm flipH="1">
            <a:off x="2684147" y="5774533"/>
            <a:ext cx="976871" cy="1707"/>
          </a:xfrm>
          <a:prstGeom prst="straightConnector1">
            <a:avLst/>
          </a:prstGeom>
          <a:noFill/>
          <a:ln w="1905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8" name="直线箭头连接符 197">
            <a:extLst>
              <a:ext uri="{FF2B5EF4-FFF2-40B4-BE49-F238E27FC236}">
                <a16:creationId xmlns:a16="http://schemas.microsoft.com/office/drawing/2014/main" id="{5486A7BC-6E83-9E94-ECB4-1885EA0B75A6}"/>
              </a:ext>
            </a:extLst>
          </p:cNvPr>
          <p:cNvCxnSpPr>
            <a:cxnSpLocks/>
            <a:stCxn id="191" idx="0"/>
            <a:endCxn id="183" idx="2"/>
          </p:cNvCxnSpPr>
          <p:nvPr/>
        </p:nvCxnSpPr>
        <p:spPr>
          <a:xfrm flipV="1">
            <a:off x="4344310" y="4946567"/>
            <a:ext cx="0" cy="480495"/>
          </a:xfrm>
          <a:prstGeom prst="straightConnector1">
            <a:avLst/>
          </a:prstGeom>
          <a:noFill/>
          <a:ln w="1905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连接线"/>
          <p:cNvSpPr/>
          <p:nvPr/>
        </p:nvSpPr>
        <p:spPr>
          <a:xfrm>
            <a:off x="7777162" y="1938337"/>
            <a:ext cx="466726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13334">
            <a:solidFill>
              <a:srgbClr val="888888"/>
            </a:solidFill>
            <a:tailEnd type="triangle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182" name="连接线"/>
          <p:cNvSpPr/>
          <p:nvPr/>
        </p:nvSpPr>
        <p:spPr>
          <a:xfrm>
            <a:off x="3933824" y="1938337"/>
            <a:ext cx="461964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13334">
            <a:solidFill>
              <a:srgbClr val="888888"/>
            </a:solidFill>
            <a:tailEnd type="triangle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167" name="实施例"/>
          <p:cNvSpPr txBox="1"/>
          <p:nvPr/>
        </p:nvSpPr>
        <p:spPr>
          <a:xfrm>
            <a:off x="552450" y="228600"/>
            <a:ext cx="11049000" cy="171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3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实施例</a:t>
            </a:r>
          </a:p>
        </p:txBody>
      </p:sp>
      <p:sp>
        <p:nvSpPr>
          <p:cNvPr id="168" name="实施例：初始准备"/>
          <p:cNvSpPr txBox="1"/>
          <p:nvPr/>
        </p:nvSpPr>
        <p:spPr>
          <a:xfrm>
            <a:off x="552450" y="609600"/>
            <a:ext cx="11087100" cy="349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实施例：初始准备</a:t>
            </a:r>
          </a:p>
        </p:txBody>
      </p:sp>
      <p:sp>
        <p:nvSpPr>
          <p:cNvPr id="169" name="05"/>
          <p:cNvSpPr txBox="1"/>
          <p:nvPr/>
        </p:nvSpPr>
        <p:spPr>
          <a:xfrm>
            <a:off x="11334750" y="6429375"/>
            <a:ext cx="381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05</a:t>
            </a:r>
          </a:p>
        </p:txBody>
      </p:sp>
      <p:grpSp>
        <p:nvGrpSpPr>
          <p:cNvPr id="172" name="总览步骤1"/>
          <p:cNvGrpSpPr/>
          <p:nvPr/>
        </p:nvGrpSpPr>
        <p:grpSpPr>
          <a:xfrm>
            <a:off x="552450" y="1457325"/>
            <a:ext cx="3371850" cy="962025"/>
            <a:chOff x="0" y="0"/>
            <a:chExt cx="3371850" cy="962025"/>
          </a:xfrm>
        </p:grpSpPr>
        <p:sp>
          <p:nvSpPr>
            <p:cNvPr id="170" name="矩形"/>
            <p:cNvSpPr/>
            <p:nvPr/>
          </p:nvSpPr>
          <p:spPr>
            <a:xfrm>
              <a:off x="0" y="0"/>
              <a:ext cx="3371850" cy="962025"/>
            </a:xfrm>
            <a:prstGeom prst="rect">
              <a:avLst/>
            </a:prstGeom>
            <a:solidFill>
              <a:srgbClr val="E8E8E8"/>
            </a:solidFill>
            <a:ln w="19050" cap="flat">
              <a:solidFill>
                <a:srgbClr val="11111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>
                  <a:solidFill>
                    <a:srgbClr val="111111"/>
                  </a:solidFill>
                  <a:latin typeface="冬青黑体简体中文 W6"/>
                  <a:ea typeface="冬青黑体简体中文 W6"/>
                  <a:cs typeface="冬青黑体简体中文 W6"/>
                  <a:sym typeface="冬青黑体简体中文 W6"/>
                </a:defRPr>
              </a:pPr>
              <a:endParaRPr/>
            </a:p>
          </p:txBody>
        </p:sp>
        <p:sp>
          <p:nvSpPr>
            <p:cNvPr id="171" name="1  初始准备…"/>
            <p:cNvSpPr txBox="1"/>
            <p:nvPr/>
          </p:nvSpPr>
          <p:spPr>
            <a:xfrm>
              <a:off x="9525" y="147637"/>
              <a:ext cx="3352800" cy="6667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7625" tIns="47625" rIns="47625" bIns="47625" numCol="1" anchor="ctr">
              <a:spAutoFit/>
            </a:bodyPr>
            <a:lstStyle/>
            <a:p>
              <a:pPr algn="l">
                <a:defRPr>
                  <a:solidFill>
                    <a:srgbClr val="111111"/>
                  </a:solidFill>
                  <a:latin typeface="冬青黑体简体中文 W6"/>
                  <a:ea typeface="冬青黑体简体中文 W6"/>
                  <a:cs typeface="冬青黑体简体中文 W6"/>
                  <a:sym typeface="冬青黑体简体中文 W6"/>
                </a:defRPr>
              </a:pPr>
              <a:r>
                <a:t>1  初始准备</a:t>
              </a:r>
            </a:p>
            <a:p>
              <a:pPr algn="l">
                <a:defRPr>
                  <a:solidFill>
                    <a:srgbClr val="111111"/>
                  </a:solidFill>
                  <a:latin typeface="冬青黑体简体中文 W6"/>
                  <a:ea typeface="冬青黑体简体中文 W6"/>
                  <a:cs typeface="冬青黑体简体中文 W6"/>
                  <a:sym typeface="冬青黑体简体中文 W6"/>
                </a:defRPr>
              </a:pPr>
              <a:r>
                <a:t>建立本地匹配</a:t>
              </a:r>
            </a:p>
          </p:txBody>
        </p:sp>
      </p:grpSp>
      <p:grpSp>
        <p:nvGrpSpPr>
          <p:cNvPr id="175" name="总览步骤2"/>
          <p:cNvGrpSpPr/>
          <p:nvPr/>
        </p:nvGrpSpPr>
        <p:grpSpPr>
          <a:xfrm>
            <a:off x="4400550" y="1457325"/>
            <a:ext cx="3371850" cy="962025"/>
            <a:chOff x="0" y="0"/>
            <a:chExt cx="3371850" cy="962025"/>
          </a:xfrm>
        </p:grpSpPr>
        <p:sp>
          <p:nvSpPr>
            <p:cNvPr id="173" name="矩形"/>
            <p:cNvSpPr/>
            <p:nvPr/>
          </p:nvSpPr>
          <p:spPr>
            <a:xfrm>
              <a:off x="0" y="0"/>
              <a:ext cx="3371850" cy="96202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BBBBBB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endParaRPr/>
            </a:p>
          </p:txBody>
        </p:sp>
        <p:sp>
          <p:nvSpPr>
            <p:cNvPr id="174" name="2  连续 Decode…"/>
            <p:cNvSpPr txBox="1"/>
            <p:nvPr/>
          </p:nvSpPr>
          <p:spPr>
            <a:xfrm>
              <a:off x="4762" y="147637"/>
              <a:ext cx="3362326" cy="6667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7625" tIns="47625" rIns="47625" bIns="47625" numCol="1" anchor="ctr">
              <a:spAutoFit/>
            </a:bodyPr>
            <a:lstStyle/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t>2  连续 Decode</a:t>
              </a:r>
            </a:p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t>并行需求校验</a:t>
              </a:r>
            </a:p>
          </p:txBody>
        </p:sp>
      </p:grpSp>
      <p:grpSp>
        <p:nvGrpSpPr>
          <p:cNvPr id="178" name="总览步骤3"/>
          <p:cNvGrpSpPr/>
          <p:nvPr/>
        </p:nvGrpSpPr>
        <p:grpSpPr>
          <a:xfrm>
            <a:off x="8248650" y="1457325"/>
            <a:ext cx="3371850" cy="962025"/>
            <a:chOff x="0" y="0"/>
            <a:chExt cx="3371850" cy="962025"/>
          </a:xfrm>
        </p:grpSpPr>
        <p:sp>
          <p:nvSpPr>
            <p:cNvPr id="176" name="矩形"/>
            <p:cNvSpPr/>
            <p:nvPr/>
          </p:nvSpPr>
          <p:spPr>
            <a:xfrm>
              <a:off x="0" y="0"/>
              <a:ext cx="3371850" cy="96202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BBBBBB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endParaRPr/>
            </a:p>
          </p:txBody>
        </p:sp>
        <p:sp>
          <p:nvSpPr>
            <p:cNvPr id="177" name="3  缺失时补载…"/>
            <p:cNvSpPr txBox="1"/>
            <p:nvPr/>
          </p:nvSpPr>
          <p:spPr>
            <a:xfrm>
              <a:off x="4762" y="147637"/>
              <a:ext cx="3362326" cy="6667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7625" tIns="47625" rIns="47625" bIns="47625" numCol="1" anchor="ctr">
              <a:spAutoFit/>
            </a:bodyPr>
            <a:lstStyle/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t>3  缺失时补载</a:t>
              </a:r>
            </a:p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t>自主传输与执行</a:t>
              </a:r>
            </a:p>
          </p:txBody>
        </p:sp>
      </p:grpSp>
      <p:sp>
        <p:nvSpPr>
          <p:cNvPr id="179" name="179">
            <a:extLst>
              <a:ext uri="{FF2B5EF4-FFF2-40B4-BE49-F238E27FC236}">
                <a16:creationId xmlns:a16="http://schemas.microsoft.com/office/drawing/2014/main" id="{DBFF63B6-8C5A-4700-BDEE-D18EFE679240}"/>
              </a:ext>
            </a:extLst>
          </p:cNvPr>
          <p:cNvSpPr>
            <a:spLocks noGrp="1"/>
          </p:cNvSpPr>
          <p:nvPr/>
        </p:nvSpPr>
        <p:spPr>
          <a:xfrm>
            <a:off x="552450" y="2667000"/>
            <a:ext cx="11087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875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 dirty="0" err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第一步：Prefill</a:t>
            </a:r>
            <a:r>
              <a:rPr sz="1875" b="1" dirty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875" b="1" dirty="0" err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后组织请求，建立本地初始匹配</a:t>
            </a:r>
            <a:endParaRPr sz="1875" b="1" dirty="0">
              <a:solidFill>
                <a:srgbClr val="33333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0" name="180">
            <a:extLst>
              <a:ext uri="{FF2B5EF4-FFF2-40B4-BE49-F238E27FC236}">
                <a16:creationId xmlns:a16="http://schemas.microsoft.com/office/drawing/2014/main" id="{510A9400-A69F-4077-A98C-A25C157AADA2}"/>
              </a:ext>
            </a:extLst>
          </p:cNvPr>
          <p:cNvSpPr>
            <a:spLocks noGrp="1"/>
          </p:cNvSpPr>
          <p:nvPr/>
        </p:nvSpPr>
        <p:spPr>
          <a:xfrm>
            <a:off x="552450" y="3095625"/>
            <a:ext cx="110871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lnSpc>
                <a:spcPct val="150000"/>
              </a:lnSpc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 dirty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Prefill </a:t>
            </a:r>
            <a:r>
              <a:rPr sz="1500" b="0" dirty="0" err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结束时，提取各请求在本层的专家需求摘要，将需求相近的请求及其</a:t>
            </a:r>
            <a:r>
              <a:rPr sz="1500" b="0" dirty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 KV </a:t>
            </a:r>
            <a:r>
              <a:rPr sz="1500" b="0" dirty="0" err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状态交接到节点</a:t>
            </a:r>
            <a:r>
              <a:rPr sz="1500" b="0" dirty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。</a:t>
            </a:r>
          </a:p>
          <a:p>
            <a:pPr algn="l">
              <a:lnSpc>
                <a:spcPct val="150000"/>
              </a:lnSpc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 dirty="0" err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在</a:t>
            </a:r>
            <a:r>
              <a:rPr lang="zh-CN" altLang="en-US" sz="1500" b="0" dirty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当前</a:t>
            </a:r>
            <a:r>
              <a:rPr sz="1500" b="0" dirty="0" err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节点</a:t>
            </a:r>
            <a:r>
              <a:rPr sz="1500" b="0" dirty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500" b="0" dirty="0" err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准备这些专家，并预留</a:t>
            </a:r>
            <a:r>
              <a:rPr sz="1500" b="0" dirty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lang="en-US" altLang="zh-CN" sz="1500" b="0" dirty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k</a:t>
            </a:r>
            <a:r>
              <a:rPr sz="1500" b="0" dirty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500" b="0" dirty="0" err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个更新槽。专家可分布在节点内不同</a:t>
            </a:r>
            <a:r>
              <a:rPr sz="1500" b="0" dirty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500" b="0" dirty="0" err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GPU，由本地驻留目录统一定位。新增模块记录请求与层标识、专家需求位图及远端专家的源地址，完成初始匹配。首个</a:t>
            </a:r>
            <a:r>
              <a:rPr sz="1500" b="0" dirty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 Decode </a:t>
            </a:r>
            <a:r>
              <a:rPr sz="1500" b="0" dirty="0" err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步按真实路由执行，后续跟踪上一轮选中专家</a:t>
            </a:r>
            <a:r>
              <a:rPr sz="1500" b="0" dirty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。</a:t>
            </a: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BC696F7D-1B43-4BCD-93F7-19C3F6148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6214" y="4495800"/>
            <a:ext cx="11079571" cy="1447800"/>
          </a:xfrm>
          <a:prstGeom prst="rect">
            <a:avLst/>
          </a:prstGeom>
        </p:spPr>
      </p:pic>
      <p:sp>
        <p:nvSpPr>
          <p:cNvPr id="184" name="activation-caption">
            <a:extLst>
              <a:ext uri="{FF2B5EF4-FFF2-40B4-BE49-F238E27FC236}">
                <a16:creationId xmlns:a16="http://schemas.microsoft.com/office/drawing/2014/main" id="{7DABD7AC-368A-44EA-BA6D-38990FBB0AB6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35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35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既有训练结果：Oracle-MoE（左两图）呈现连续稳定的专家激活，Switch（右两图）更分散。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连接线"/>
          <p:cNvSpPr/>
          <p:nvPr/>
        </p:nvSpPr>
        <p:spPr>
          <a:xfrm>
            <a:off x="7781925" y="1938337"/>
            <a:ext cx="461963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13334">
            <a:solidFill>
              <a:srgbClr val="888888"/>
            </a:solidFill>
            <a:tailEnd type="triangle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203" name="连接线"/>
          <p:cNvSpPr/>
          <p:nvPr/>
        </p:nvSpPr>
        <p:spPr>
          <a:xfrm>
            <a:off x="3929062" y="1938337"/>
            <a:ext cx="461963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13334">
            <a:solidFill>
              <a:srgbClr val="888888"/>
            </a:solidFill>
            <a:tailEnd type="triangle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188" name="实施例"/>
          <p:cNvSpPr txBox="1"/>
          <p:nvPr/>
        </p:nvSpPr>
        <p:spPr>
          <a:xfrm>
            <a:off x="552450" y="228600"/>
            <a:ext cx="11049000" cy="171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3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实施例</a:t>
            </a:r>
          </a:p>
        </p:txBody>
      </p:sp>
      <p:sp>
        <p:nvSpPr>
          <p:cNvPr id="189" name="实施例：连续 Decode"/>
          <p:cNvSpPr txBox="1"/>
          <p:nvPr/>
        </p:nvSpPr>
        <p:spPr>
          <a:xfrm>
            <a:off x="552450" y="609600"/>
            <a:ext cx="11087100" cy="349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实施例：连续 Decode</a:t>
            </a:r>
          </a:p>
        </p:txBody>
      </p:sp>
      <p:sp>
        <p:nvSpPr>
          <p:cNvPr id="190" name="06"/>
          <p:cNvSpPr txBox="1"/>
          <p:nvPr/>
        </p:nvSpPr>
        <p:spPr>
          <a:xfrm>
            <a:off x="11334750" y="6429375"/>
            <a:ext cx="381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06</a:t>
            </a:r>
          </a:p>
        </p:txBody>
      </p:sp>
      <p:grpSp>
        <p:nvGrpSpPr>
          <p:cNvPr id="193" name="总览步骤1"/>
          <p:cNvGrpSpPr/>
          <p:nvPr/>
        </p:nvGrpSpPr>
        <p:grpSpPr>
          <a:xfrm>
            <a:off x="552450" y="1457325"/>
            <a:ext cx="3371850" cy="962025"/>
            <a:chOff x="0" y="0"/>
            <a:chExt cx="3371850" cy="962025"/>
          </a:xfrm>
        </p:grpSpPr>
        <p:sp>
          <p:nvSpPr>
            <p:cNvPr id="191" name="矩形"/>
            <p:cNvSpPr/>
            <p:nvPr/>
          </p:nvSpPr>
          <p:spPr>
            <a:xfrm>
              <a:off x="0" y="0"/>
              <a:ext cx="3371850" cy="96202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BBBBBB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endParaRPr/>
            </a:p>
          </p:txBody>
        </p:sp>
        <p:sp>
          <p:nvSpPr>
            <p:cNvPr id="192" name="1  初始准备…"/>
            <p:cNvSpPr txBox="1"/>
            <p:nvPr/>
          </p:nvSpPr>
          <p:spPr>
            <a:xfrm>
              <a:off x="4762" y="147637"/>
              <a:ext cx="3362326" cy="6667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7625" tIns="47625" rIns="47625" bIns="47625" numCol="1" anchor="ctr">
              <a:spAutoFit/>
            </a:bodyPr>
            <a:lstStyle/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t>1  初始准备</a:t>
              </a:r>
            </a:p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t>建立本地匹配</a:t>
              </a:r>
            </a:p>
          </p:txBody>
        </p:sp>
      </p:grpSp>
      <p:grpSp>
        <p:nvGrpSpPr>
          <p:cNvPr id="196" name="总览步骤2"/>
          <p:cNvGrpSpPr/>
          <p:nvPr/>
        </p:nvGrpSpPr>
        <p:grpSpPr>
          <a:xfrm>
            <a:off x="4400550" y="1457325"/>
            <a:ext cx="3371850" cy="962025"/>
            <a:chOff x="0" y="0"/>
            <a:chExt cx="3371850" cy="962025"/>
          </a:xfrm>
        </p:grpSpPr>
        <p:sp>
          <p:nvSpPr>
            <p:cNvPr id="194" name="矩形"/>
            <p:cNvSpPr/>
            <p:nvPr/>
          </p:nvSpPr>
          <p:spPr>
            <a:xfrm>
              <a:off x="0" y="0"/>
              <a:ext cx="3371850" cy="962025"/>
            </a:xfrm>
            <a:prstGeom prst="rect">
              <a:avLst/>
            </a:prstGeom>
            <a:solidFill>
              <a:srgbClr val="E8E8E8"/>
            </a:solidFill>
            <a:ln w="19050" cap="flat">
              <a:solidFill>
                <a:srgbClr val="11111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>
                  <a:solidFill>
                    <a:srgbClr val="111111"/>
                  </a:solidFill>
                  <a:latin typeface="冬青黑体简体中文 W6"/>
                  <a:ea typeface="冬青黑体简体中文 W6"/>
                  <a:cs typeface="冬青黑体简体中文 W6"/>
                  <a:sym typeface="冬青黑体简体中文 W6"/>
                </a:defRPr>
              </a:pPr>
              <a:endParaRPr/>
            </a:p>
          </p:txBody>
        </p:sp>
        <p:sp>
          <p:nvSpPr>
            <p:cNvPr id="195" name="2  连续 Decode…"/>
            <p:cNvSpPr txBox="1"/>
            <p:nvPr/>
          </p:nvSpPr>
          <p:spPr>
            <a:xfrm>
              <a:off x="9525" y="147637"/>
              <a:ext cx="3352800" cy="6667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7625" tIns="47625" rIns="47625" bIns="47625" numCol="1" anchor="ctr">
              <a:spAutoFit/>
            </a:bodyPr>
            <a:lstStyle/>
            <a:p>
              <a:pPr algn="l">
                <a:defRPr>
                  <a:solidFill>
                    <a:srgbClr val="111111"/>
                  </a:solidFill>
                  <a:latin typeface="冬青黑体简体中文 W6"/>
                  <a:ea typeface="冬青黑体简体中文 W6"/>
                  <a:cs typeface="冬青黑体简体中文 W6"/>
                  <a:sym typeface="冬青黑体简体中文 W6"/>
                </a:defRPr>
              </a:pPr>
              <a:r>
                <a:t>2  连续 Decode</a:t>
              </a:r>
            </a:p>
            <a:p>
              <a:pPr algn="l">
                <a:defRPr>
                  <a:solidFill>
                    <a:srgbClr val="111111"/>
                  </a:solidFill>
                  <a:latin typeface="冬青黑体简体中文 W6"/>
                  <a:ea typeface="冬青黑体简体中文 W6"/>
                  <a:cs typeface="冬青黑体简体中文 W6"/>
                  <a:sym typeface="冬青黑体简体中文 W6"/>
                </a:defRPr>
              </a:pPr>
              <a:r>
                <a:t>并行需求校验</a:t>
              </a:r>
            </a:p>
          </p:txBody>
        </p:sp>
      </p:grpSp>
      <p:grpSp>
        <p:nvGrpSpPr>
          <p:cNvPr id="199" name="总览步骤3"/>
          <p:cNvGrpSpPr/>
          <p:nvPr/>
        </p:nvGrpSpPr>
        <p:grpSpPr>
          <a:xfrm>
            <a:off x="8248650" y="1457325"/>
            <a:ext cx="3371850" cy="962025"/>
            <a:chOff x="0" y="0"/>
            <a:chExt cx="3371850" cy="962025"/>
          </a:xfrm>
        </p:grpSpPr>
        <p:sp>
          <p:nvSpPr>
            <p:cNvPr id="197" name="矩形"/>
            <p:cNvSpPr/>
            <p:nvPr/>
          </p:nvSpPr>
          <p:spPr>
            <a:xfrm>
              <a:off x="0" y="0"/>
              <a:ext cx="3371850" cy="96202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BBBBBB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endParaRPr/>
            </a:p>
          </p:txBody>
        </p:sp>
        <p:sp>
          <p:nvSpPr>
            <p:cNvPr id="198" name="3  缺失时补载…"/>
            <p:cNvSpPr txBox="1"/>
            <p:nvPr/>
          </p:nvSpPr>
          <p:spPr>
            <a:xfrm>
              <a:off x="4762" y="147637"/>
              <a:ext cx="3362326" cy="6667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7625" tIns="47625" rIns="47625" bIns="47625" numCol="1" anchor="ctr">
              <a:spAutoFit/>
            </a:bodyPr>
            <a:lstStyle/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t>3  缺失时补载</a:t>
              </a:r>
            </a:p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t>自主传输与执行</a:t>
              </a:r>
            </a:p>
          </p:txBody>
        </p:sp>
      </p:grpSp>
      <p:sp>
        <p:nvSpPr>
          <p:cNvPr id="200" name="第二步：并行计算真实需求，校验本轮专家贡献"/>
          <p:cNvSpPr txBox="1"/>
          <p:nvPr/>
        </p:nvSpPr>
        <p:spPr>
          <a:xfrm>
            <a:off x="552450" y="2952750"/>
            <a:ext cx="11087100" cy="273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1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第二步：并行计算真实需求，校验本轮专家贡献</a:t>
            </a:r>
          </a:p>
        </p:txBody>
      </p:sp>
      <p:sp>
        <p:nvSpPr>
          <p:cNvPr id="201" name="节点 A 已驻留专家 1–10。Q1 的本轮 Attention 完成后，主计算阵列按上一轮选择的专家 1–8 先行…"/>
          <p:cNvSpPr txBox="1"/>
          <p:nvPr/>
        </p:nvSpPr>
        <p:spPr>
          <a:xfrm>
            <a:off x="552450" y="3581400"/>
            <a:ext cx="11087100" cy="1192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50000"/>
              </a:lnSpc>
              <a:defRPr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rPr lang="zh-CN" altLang="en-US" dirty="0"/>
              <a:t>当前</a:t>
            </a:r>
            <a:r>
              <a:rPr dirty="0" err="1"/>
              <a:t>节点已驻留专家</a:t>
            </a:r>
            <a:r>
              <a:rPr lang="zh-CN" altLang="en-US" dirty="0"/>
              <a:t>所需专家</a:t>
            </a:r>
            <a:r>
              <a:rPr dirty="0"/>
              <a:t>。</a:t>
            </a:r>
            <a:r>
              <a:rPr dirty="0" err="1"/>
              <a:t>本轮</a:t>
            </a:r>
            <a:r>
              <a:rPr dirty="0"/>
              <a:t> Attention </a:t>
            </a:r>
            <a:r>
              <a:rPr dirty="0" err="1"/>
              <a:t>完成后，主计算阵列按上一轮选择的专家</a:t>
            </a:r>
            <a:r>
              <a:rPr dirty="0"/>
              <a:t> </a:t>
            </a:r>
            <a:r>
              <a:rPr dirty="0" err="1"/>
              <a:t>先行计算当前</a:t>
            </a:r>
            <a:r>
              <a:rPr dirty="0"/>
              <a:t> token </a:t>
            </a:r>
            <a:r>
              <a:rPr dirty="0" err="1"/>
              <a:t>的新输入，独立</a:t>
            </a:r>
            <a:r>
              <a:rPr dirty="0"/>
              <a:t> Gate </a:t>
            </a:r>
            <a:r>
              <a:rPr dirty="0" err="1"/>
              <a:t>单元同时生成本轮真实专家</a:t>
            </a:r>
            <a:r>
              <a:rPr dirty="0"/>
              <a:t> ID </a:t>
            </a:r>
            <a:r>
              <a:rPr dirty="0" err="1"/>
              <a:t>与组合权重</a:t>
            </a:r>
            <a:r>
              <a:rPr dirty="0"/>
              <a:t>。</a:t>
            </a:r>
            <a:r>
              <a:rPr lang="zh-CN" altLang="en-US" dirty="0"/>
              <a:t>若</a:t>
            </a:r>
            <a:r>
              <a:rPr dirty="0" err="1">
                <a:solidFill>
                  <a:srgbClr val="9C2F32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rPr>
              <a:t>无需跨节点补载</a:t>
            </a:r>
            <a:r>
              <a:rPr dirty="0" err="1"/>
              <a:t>专家</a:t>
            </a:r>
            <a:r>
              <a:rPr lang="zh-CN" altLang="en-US" dirty="0"/>
              <a:t>，则</a:t>
            </a:r>
            <a:r>
              <a:rPr dirty="0" err="1"/>
              <a:t>所有真实贡献齐备后，按本轮</a:t>
            </a:r>
            <a:r>
              <a:rPr dirty="0"/>
              <a:t> Gate </a:t>
            </a:r>
            <a:r>
              <a:rPr dirty="0" err="1"/>
              <a:t>权重合并并提交结果，再更新请求历史</a:t>
            </a:r>
            <a:r>
              <a:rPr dirty="0"/>
              <a:t>。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连接线"/>
          <p:cNvSpPr/>
          <p:nvPr/>
        </p:nvSpPr>
        <p:spPr>
          <a:xfrm>
            <a:off x="7777162" y="1938337"/>
            <a:ext cx="461963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13334">
            <a:solidFill>
              <a:srgbClr val="888888"/>
            </a:solidFill>
            <a:tailEnd type="triangle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224" name="连接线"/>
          <p:cNvSpPr/>
          <p:nvPr/>
        </p:nvSpPr>
        <p:spPr>
          <a:xfrm>
            <a:off x="3929062" y="1938337"/>
            <a:ext cx="466726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13334">
            <a:solidFill>
              <a:srgbClr val="888888"/>
            </a:solidFill>
            <a:tailEnd type="triangle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209" name="实施例"/>
          <p:cNvSpPr txBox="1"/>
          <p:nvPr/>
        </p:nvSpPr>
        <p:spPr>
          <a:xfrm>
            <a:off x="552450" y="228600"/>
            <a:ext cx="11049000" cy="171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3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实施例</a:t>
            </a:r>
          </a:p>
        </p:txBody>
      </p:sp>
      <p:sp>
        <p:nvSpPr>
          <p:cNvPr id="210" name="实施例：缺失补载"/>
          <p:cNvSpPr txBox="1"/>
          <p:nvPr/>
        </p:nvSpPr>
        <p:spPr>
          <a:xfrm>
            <a:off x="552450" y="609600"/>
            <a:ext cx="11087100" cy="349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实施例：缺失补载</a:t>
            </a:r>
          </a:p>
        </p:txBody>
      </p:sp>
      <p:sp>
        <p:nvSpPr>
          <p:cNvPr id="211" name="07"/>
          <p:cNvSpPr txBox="1"/>
          <p:nvPr/>
        </p:nvSpPr>
        <p:spPr>
          <a:xfrm>
            <a:off x="11334750" y="6429375"/>
            <a:ext cx="381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07</a:t>
            </a:r>
          </a:p>
        </p:txBody>
      </p:sp>
      <p:grpSp>
        <p:nvGrpSpPr>
          <p:cNvPr id="214" name="总览步骤1"/>
          <p:cNvGrpSpPr/>
          <p:nvPr/>
        </p:nvGrpSpPr>
        <p:grpSpPr>
          <a:xfrm>
            <a:off x="552450" y="1457325"/>
            <a:ext cx="3371850" cy="962025"/>
            <a:chOff x="0" y="0"/>
            <a:chExt cx="3371850" cy="962025"/>
          </a:xfrm>
        </p:grpSpPr>
        <p:sp>
          <p:nvSpPr>
            <p:cNvPr id="212" name="矩形"/>
            <p:cNvSpPr/>
            <p:nvPr/>
          </p:nvSpPr>
          <p:spPr>
            <a:xfrm>
              <a:off x="0" y="0"/>
              <a:ext cx="3371850" cy="96202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BBBBBB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endParaRPr/>
            </a:p>
          </p:txBody>
        </p:sp>
        <p:sp>
          <p:nvSpPr>
            <p:cNvPr id="213" name="1  初始准备…"/>
            <p:cNvSpPr txBox="1"/>
            <p:nvPr/>
          </p:nvSpPr>
          <p:spPr>
            <a:xfrm>
              <a:off x="4762" y="147637"/>
              <a:ext cx="3362326" cy="6667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7625" tIns="47625" rIns="47625" bIns="47625" numCol="1" anchor="ctr">
              <a:spAutoFit/>
            </a:bodyPr>
            <a:lstStyle/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t>1  初始准备</a:t>
              </a:r>
            </a:p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t>建立本地匹配</a:t>
              </a:r>
            </a:p>
          </p:txBody>
        </p:sp>
      </p:grpSp>
      <p:grpSp>
        <p:nvGrpSpPr>
          <p:cNvPr id="217" name="总览步骤2"/>
          <p:cNvGrpSpPr/>
          <p:nvPr/>
        </p:nvGrpSpPr>
        <p:grpSpPr>
          <a:xfrm>
            <a:off x="4400550" y="1457325"/>
            <a:ext cx="3371850" cy="962025"/>
            <a:chOff x="0" y="0"/>
            <a:chExt cx="3371850" cy="962025"/>
          </a:xfrm>
        </p:grpSpPr>
        <p:sp>
          <p:nvSpPr>
            <p:cNvPr id="215" name="矩形"/>
            <p:cNvSpPr/>
            <p:nvPr/>
          </p:nvSpPr>
          <p:spPr>
            <a:xfrm>
              <a:off x="0" y="0"/>
              <a:ext cx="3371850" cy="96202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BBBBBB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endParaRPr/>
            </a:p>
          </p:txBody>
        </p:sp>
        <p:sp>
          <p:nvSpPr>
            <p:cNvPr id="216" name="2  连续 Decode…"/>
            <p:cNvSpPr txBox="1"/>
            <p:nvPr/>
          </p:nvSpPr>
          <p:spPr>
            <a:xfrm>
              <a:off x="4762" y="147637"/>
              <a:ext cx="3362326" cy="6667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7625" tIns="47625" rIns="47625" bIns="47625" numCol="1" anchor="ctr">
              <a:spAutoFit/>
            </a:bodyPr>
            <a:lstStyle/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t>2  连续 Decode</a:t>
              </a:r>
            </a:p>
            <a:p>
              <a:pPr algn="l">
                <a:defRPr>
                  <a:solidFill>
                    <a:srgbClr val="777777"/>
                  </a:solidFill>
                  <a:latin typeface="冬青黑体简体中文 W3"/>
                  <a:ea typeface="冬青黑体简体中文 W3"/>
                  <a:cs typeface="冬青黑体简体中文 W3"/>
                  <a:sym typeface="冬青黑体简体中文 W3"/>
                </a:defRPr>
              </a:pPr>
              <a:r>
                <a:t>并行需求校验</a:t>
              </a:r>
            </a:p>
          </p:txBody>
        </p:sp>
      </p:grpSp>
      <p:grpSp>
        <p:nvGrpSpPr>
          <p:cNvPr id="220" name="总览步骤3"/>
          <p:cNvGrpSpPr/>
          <p:nvPr/>
        </p:nvGrpSpPr>
        <p:grpSpPr>
          <a:xfrm>
            <a:off x="8248650" y="1457325"/>
            <a:ext cx="3371850" cy="962025"/>
            <a:chOff x="0" y="0"/>
            <a:chExt cx="3371850" cy="962025"/>
          </a:xfrm>
        </p:grpSpPr>
        <p:sp>
          <p:nvSpPr>
            <p:cNvPr id="218" name="矩形"/>
            <p:cNvSpPr/>
            <p:nvPr/>
          </p:nvSpPr>
          <p:spPr>
            <a:xfrm>
              <a:off x="0" y="0"/>
              <a:ext cx="3371850" cy="962025"/>
            </a:xfrm>
            <a:prstGeom prst="rect">
              <a:avLst/>
            </a:prstGeom>
            <a:solidFill>
              <a:srgbClr val="E8E8E8"/>
            </a:solidFill>
            <a:ln w="19050" cap="flat">
              <a:solidFill>
                <a:srgbClr val="11111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>
                  <a:solidFill>
                    <a:srgbClr val="111111"/>
                  </a:solidFill>
                  <a:latin typeface="冬青黑体简体中文 W6"/>
                  <a:ea typeface="冬青黑体简体中文 W6"/>
                  <a:cs typeface="冬青黑体简体中文 W6"/>
                  <a:sym typeface="冬青黑体简体中文 W6"/>
                </a:defRPr>
              </a:pPr>
              <a:endParaRPr/>
            </a:p>
          </p:txBody>
        </p:sp>
        <p:sp>
          <p:nvSpPr>
            <p:cNvPr id="219" name="3  缺失时补载…"/>
            <p:cNvSpPr txBox="1"/>
            <p:nvPr/>
          </p:nvSpPr>
          <p:spPr>
            <a:xfrm>
              <a:off x="9525" y="147637"/>
              <a:ext cx="3352800" cy="6667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7625" tIns="47625" rIns="47625" bIns="47625" numCol="1" anchor="ctr">
              <a:spAutoFit/>
            </a:bodyPr>
            <a:lstStyle/>
            <a:p>
              <a:pPr algn="l">
                <a:defRPr>
                  <a:solidFill>
                    <a:srgbClr val="111111"/>
                  </a:solidFill>
                  <a:latin typeface="冬青黑体简体中文 W6"/>
                  <a:ea typeface="冬青黑体简体中文 W6"/>
                  <a:cs typeface="冬青黑体简体中文 W6"/>
                  <a:sym typeface="冬青黑体简体中文 W6"/>
                </a:defRPr>
              </a:pPr>
              <a:r>
                <a:t>3  缺失时补载</a:t>
              </a:r>
            </a:p>
            <a:p>
              <a:pPr algn="l">
                <a:defRPr>
                  <a:solidFill>
                    <a:srgbClr val="111111"/>
                  </a:solidFill>
                  <a:latin typeface="冬青黑体简体中文 W6"/>
                  <a:ea typeface="冬青黑体简体中文 W6"/>
                  <a:cs typeface="冬青黑体简体中文 W6"/>
                  <a:sym typeface="冬青黑体简体中文 W6"/>
                </a:defRPr>
              </a:pPr>
              <a:r>
                <a:t>自主传输与执行</a:t>
              </a:r>
            </a:p>
          </p:txBody>
        </p:sp>
      </p:grpSp>
      <p:sp>
        <p:nvSpPr>
          <p:cNvPr id="221" name="第三步：缺失专家由设备补载，到达后完成计算"/>
          <p:cNvSpPr txBox="1"/>
          <p:nvPr/>
        </p:nvSpPr>
        <p:spPr>
          <a:xfrm>
            <a:off x="552450" y="2952750"/>
            <a:ext cx="11087100" cy="273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1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第三步：缺失专家由设备补载，到达后完成计算</a:t>
            </a:r>
          </a:p>
        </p:txBody>
      </p:sp>
      <p:sp>
        <p:nvSpPr>
          <p:cNvPr id="222" name="仍以节点 A 的 Q1 为例，若本轮真实选择变为 1–7、11，而专家 11 尚未驻留，模块就查询远端源副…"/>
          <p:cNvSpPr txBox="1"/>
          <p:nvPr/>
        </p:nvSpPr>
        <p:spPr>
          <a:xfrm>
            <a:off x="552450" y="3581400"/>
            <a:ext cx="11087100" cy="1608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150000"/>
              </a:lnSpc>
              <a:defRPr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rPr dirty="0" err="1"/>
              <a:t>若本轮真实选择</a:t>
            </a:r>
            <a:r>
              <a:rPr lang="zh-CN" altLang="en-US" dirty="0"/>
              <a:t>需要新专家</a:t>
            </a:r>
            <a:r>
              <a:rPr dirty="0"/>
              <a:t>，</a:t>
            </a:r>
            <a:r>
              <a:rPr dirty="0" err="1"/>
              <a:t>而</a:t>
            </a:r>
            <a:r>
              <a:rPr lang="zh-CN" altLang="en-US" dirty="0"/>
              <a:t>新</a:t>
            </a:r>
            <a:r>
              <a:rPr dirty="0" err="1"/>
              <a:t>专家尚未驻留，模块就查询远端</a:t>
            </a:r>
            <a:r>
              <a:rPr lang="zh-CN" altLang="en-US" dirty="0"/>
              <a:t>（可为本地</a:t>
            </a:r>
            <a:r>
              <a:rPr lang="en-US" altLang="zh-CN" dirty="0"/>
              <a:t>flash</a:t>
            </a:r>
            <a:r>
              <a:rPr lang="zh-CN" altLang="en-US" dirty="0"/>
              <a:t>或其他节点）的</a:t>
            </a:r>
            <a:r>
              <a:rPr dirty="0" err="1"/>
              <a:t>源副本，预留更新槽，并</a:t>
            </a:r>
            <a:r>
              <a:rPr dirty="0" err="1">
                <a:solidFill>
                  <a:srgbClr val="9C2F32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rPr>
              <a:t>自主提交专家复制</a:t>
            </a:r>
            <a:r>
              <a:rPr dirty="0" err="1"/>
              <a:t>。同组多个请求对专家</a:t>
            </a:r>
            <a:r>
              <a:rPr dirty="0"/>
              <a:t> </a:t>
            </a:r>
            <a:r>
              <a:rPr dirty="0" err="1"/>
              <a:t>的需求合并为一次传输，无需</a:t>
            </a:r>
            <a:r>
              <a:rPr dirty="0"/>
              <a:t> CPU </a:t>
            </a:r>
            <a:r>
              <a:rPr dirty="0" err="1"/>
              <a:t>逐次判断和提交</a:t>
            </a:r>
            <a:r>
              <a:rPr dirty="0"/>
              <a:t>。</a:t>
            </a:r>
            <a:endParaRPr lang="en-US" dirty="0"/>
          </a:p>
          <a:p>
            <a:pPr algn="l">
              <a:lnSpc>
                <a:spcPct val="150000"/>
              </a:lnSpc>
              <a:defRPr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rPr dirty="0" err="1"/>
              <a:t>复制期间</a:t>
            </a:r>
            <a:r>
              <a:rPr dirty="0"/>
              <a:t>，</a:t>
            </a:r>
            <a:r>
              <a:rPr lang="zh-CN" altLang="en-US" dirty="0"/>
              <a:t>已驻留</a:t>
            </a:r>
            <a:r>
              <a:rPr dirty="0" err="1"/>
              <a:t>专家</a:t>
            </a:r>
            <a:r>
              <a:rPr dirty="0"/>
              <a:t> </a:t>
            </a:r>
            <a:r>
              <a:rPr dirty="0" err="1"/>
              <a:t>可继续计算，未选中</a:t>
            </a:r>
            <a:r>
              <a:rPr lang="zh-CN" altLang="en-US" dirty="0"/>
              <a:t>专家</a:t>
            </a:r>
            <a:r>
              <a:rPr dirty="0" err="1"/>
              <a:t>结果不提交</a:t>
            </a:r>
            <a:r>
              <a:rPr dirty="0"/>
              <a:t>。</a:t>
            </a:r>
            <a:r>
              <a:rPr lang="zh-CN" altLang="en-US" dirty="0"/>
              <a:t>新</a:t>
            </a:r>
            <a:r>
              <a:rPr dirty="0" err="1"/>
              <a:t>专家到达后，模块唤醒关联计算；真实贡献齐备后按本轮权重提交结果</a:t>
            </a:r>
            <a:r>
              <a:rPr dirty="0"/>
              <a:t>。</a:t>
            </a:r>
            <a:r>
              <a:rPr lang="zh-CN" altLang="en-US" dirty="0"/>
              <a:t>新</a:t>
            </a:r>
            <a:r>
              <a:rPr dirty="0" err="1"/>
              <a:t>专家的副本继续保留，供后续</a:t>
            </a:r>
            <a:r>
              <a:rPr dirty="0"/>
              <a:t> token </a:t>
            </a:r>
            <a:r>
              <a:rPr dirty="0" err="1"/>
              <a:t>在节点内复用</a:t>
            </a:r>
            <a:r>
              <a:rPr dirty="0"/>
              <a:t>。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6A33793-EED2-44F9-9BAC-3262ECF7E78A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110871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725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725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技术效果 / 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33E330-EFF4-4A99-A897-C43359D5EC3E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1087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550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 dirty="0" err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本地</a:t>
            </a:r>
            <a:r>
              <a:rPr sz="2550" b="1" dirty="0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 DDR </a:t>
            </a:r>
            <a:r>
              <a:rPr sz="2550" b="1" dirty="0" err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补载实施例：预期收益与核心假设</a:t>
            </a:r>
            <a:endParaRPr sz="2550" b="1" dirty="0">
              <a:solidFill>
                <a:srgbClr val="111111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E3D8A2-87A0-4E20-833E-41D72D9DC861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350" b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350" b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35D8C9-187C-43EF-B489-71E43B7542D2}"/>
              </a:ext>
            </a:extLst>
          </p:cNvPr>
          <p:cNvSpPr>
            <a:spLocks noGrp="1"/>
          </p:cNvSpPr>
          <p:nvPr/>
        </p:nvSpPr>
        <p:spPr>
          <a:xfrm>
            <a:off x="552450" y="1209675"/>
            <a:ext cx="110871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025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 dirty="0" err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跨节点</a:t>
            </a:r>
            <a:r>
              <a:rPr sz="2025" b="1" dirty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 EP </a:t>
            </a:r>
            <a:r>
              <a:rPr sz="2025" b="1" dirty="0" err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载荷预计减少</a:t>
            </a:r>
            <a:r>
              <a:rPr sz="2025" b="1" dirty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 97.5%，</a:t>
            </a:r>
            <a:r>
              <a:rPr sz="2025" b="1" dirty="0" err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同批量阶段服务能力提升</a:t>
            </a:r>
            <a:r>
              <a:rPr sz="2025" b="1" dirty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 10.5%。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B65A81-1EFF-4CFD-BBF4-773A6448E740}"/>
              </a:ext>
            </a:extLst>
          </p:cNvPr>
          <p:cNvSpPr>
            <a:spLocks noGrp="1"/>
          </p:cNvSpPr>
          <p:nvPr/>
        </p:nvSpPr>
        <p:spPr>
          <a:xfrm>
            <a:off x="552450" y="1609725"/>
            <a:ext cx="11087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575" b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575" b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 dirty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rPr>
              <a:t>阶段时间：2.6004 </a:t>
            </a:r>
            <a:r>
              <a:rPr sz="1575" b="0" dirty="0" err="1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rPr>
              <a:t>ms</a:t>
            </a:r>
            <a:r>
              <a:rPr sz="1575" b="0" dirty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575" b="0" dirty="0" err="1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rPr>
              <a:t>降至</a:t>
            </a:r>
            <a:r>
              <a:rPr sz="1575" b="0" dirty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rPr>
              <a:t> 2.3542 </a:t>
            </a:r>
            <a:r>
              <a:rPr sz="1575" b="0" dirty="0" err="1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rPr>
              <a:t>ms</a:t>
            </a:r>
            <a:r>
              <a:rPr sz="1575" b="0" dirty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rPr>
              <a:t>（−9.5%）。</a:t>
            </a:r>
            <a:r>
              <a:rPr sz="1575" b="0" dirty="0" err="1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rPr>
              <a:t>以下为模拟配置与假设</a:t>
            </a:r>
            <a:r>
              <a:rPr sz="1575" b="0" dirty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A93632-215E-403E-9E35-BD113EFFDE5F}"/>
              </a:ext>
            </a:extLst>
          </p:cNvPr>
          <p:cNvSpPr>
            <a:spLocks noGrp="1"/>
          </p:cNvSpPr>
          <p:nvPr/>
        </p:nvSpPr>
        <p:spPr>
          <a:xfrm>
            <a:off x="552450" y="2009775"/>
            <a:ext cx="110871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575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marL="177800" indent="-101600" algn="l">
              <a:spcAft>
                <a:spcPts val="0"/>
              </a:spcAft>
              <a:buChar char="•"/>
              <a:defRPr sz="1575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dirty="0" err="1"/>
              <a:t>模型与部署规模：每层</a:t>
            </a:r>
            <a:r>
              <a:rPr dirty="0"/>
              <a:t> </a:t>
            </a:r>
            <a:r>
              <a:rPr b="1" dirty="0">
                <a:solidFill>
                  <a:srgbClr val="9C2F32"/>
                </a:solidFill>
              </a:rPr>
              <a:t>128 专家、Top-8</a:t>
            </a:r>
            <a:r>
              <a:rPr dirty="0"/>
              <a:t>，隐藏维度 7,168、中间维度 2,048，采用 FP8。</a:t>
            </a:r>
            <a:br>
              <a:rPr dirty="0"/>
            </a:br>
            <a:r>
              <a:rPr dirty="0" err="1"/>
              <a:t>四节点、每节点八卡，每节点每步</a:t>
            </a:r>
            <a:r>
              <a:rPr dirty="0"/>
              <a:t> 2,048 </a:t>
            </a:r>
            <a:r>
              <a:rPr dirty="0" err="1"/>
              <a:t>请求，评估两层阶段（模拟配置</a:t>
            </a:r>
            <a:r>
              <a:rPr dirty="0"/>
              <a:t>）。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EADED4-E29E-40F7-9D5A-7FD9647C1D39}"/>
              </a:ext>
            </a:extLst>
          </p:cNvPr>
          <p:cNvSpPr>
            <a:spLocks noGrp="1"/>
          </p:cNvSpPr>
          <p:nvPr/>
        </p:nvSpPr>
        <p:spPr>
          <a:xfrm>
            <a:off x="552450" y="2676525"/>
            <a:ext cx="110871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575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marL="177800" indent="-101600" algn="l">
              <a:spcAft>
                <a:spcPts val="0"/>
              </a:spcAft>
              <a:buChar char="•"/>
              <a:defRPr sz="1575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dirty="0"/>
              <a:t>跨节点有效带宽：</a:t>
            </a:r>
            <a:r>
              <a:rPr b="1" dirty="0">
                <a:solidFill>
                  <a:srgbClr val="9C2F32"/>
                </a:solidFill>
              </a:rPr>
              <a:t>200 GB/s/</a:t>
            </a:r>
            <a:r>
              <a:rPr b="1" dirty="0" err="1">
                <a:solidFill>
                  <a:srgbClr val="9C2F32"/>
                </a:solidFill>
              </a:rPr>
              <a:t>节点</a:t>
            </a:r>
            <a:r>
              <a:rPr dirty="0" err="1"/>
              <a:t>。参考</a:t>
            </a:r>
            <a:r>
              <a:rPr dirty="0"/>
              <a:t> DGX H100 </a:t>
            </a:r>
            <a:r>
              <a:rPr dirty="0" err="1"/>
              <a:t>多网卡配置及</a:t>
            </a:r>
            <a:r>
              <a:rPr dirty="0"/>
              <a:t> </a:t>
            </a:r>
            <a:r>
              <a:rPr dirty="0" err="1"/>
              <a:t>DeepEP</a:t>
            </a:r>
            <a:r>
              <a:rPr dirty="0"/>
              <a:t> </a:t>
            </a:r>
            <a:r>
              <a:rPr dirty="0" err="1"/>
              <a:t>实测量级</a:t>
            </a:r>
            <a:r>
              <a:rPr dirty="0"/>
              <a:t>，</a:t>
            </a:r>
            <a:br>
              <a:rPr dirty="0"/>
            </a:br>
            <a:r>
              <a:rPr dirty="0" err="1"/>
              <a:t>选取节点聚合有效带宽作为模拟输入，并非单卡带宽</a:t>
            </a:r>
            <a:r>
              <a:rPr dirty="0"/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FD0929-219D-48C0-BB2B-9FB973B213C5}"/>
              </a:ext>
            </a:extLst>
          </p:cNvPr>
          <p:cNvSpPr>
            <a:spLocks noGrp="1"/>
          </p:cNvSpPr>
          <p:nvPr/>
        </p:nvSpPr>
        <p:spPr>
          <a:xfrm>
            <a:off x="552450" y="3343275"/>
            <a:ext cx="110871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575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marL="177800" indent="-101600" algn="l">
              <a:spcAft>
                <a:spcPts val="0"/>
              </a:spcAft>
              <a:buChar char="•"/>
              <a:defRPr sz="1575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dirty="0"/>
              <a:t>通信隐藏比例：</a:t>
            </a:r>
            <a:r>
              <a:rPr b="1" dirty="0">
                <a:solidFill>
                  <a:srgbClr val="9C2F32"/>
                </a:solidFill>
              </a:rPr>
              <a:t>50%</a:t>
            </a:r>
            <a:r>
              <a:rPr dirty="0"/>
              <a:t>。</a:t>
            </a:r>
            <a:r>
              <a:rPr dirty="0" err="1"/>
              <a:t>参考</a:t>
            </a:r>
            <a:r>
              <a:rPr dirty="0"/>
              <a:t> </a:t>
            </a:r>
            <a:r>
              <a:rPr dirty="0" err="1"/>
              <a:t>DeepSeek</a:t>
            </a:r>
            <a:r>
              <a:rPr dirty="0"/>
              <a:t> Decode </a:t>
            </a:r>
            <a:r>
              <a:rPr dirty="0" err="1"/>
              <a:t>双</a:t>
            </a:r>
            <a:r>
              <a:rPr dirty="0"/>
              <a:t> micro-batch </a:t>
            </a:r>
            <a:r>
              <a:rPr dirty="0" err="1"/>
              <a:t>重叠机制，假设一半</a:t>
            </a:r>
            <a:r>
              <a:rPr dirty="0"/>
              <a:t> EP</a:t>
            </a:r>
            <a:br>
              <a:rPr dirty="0"/>
            </a:br>
            <a:r>
              <a:rPr dirty="0" err="1"/>
              <a:t>通信耗时被计算隐藏。该比例为模拟输入，其影响见下一页曲线</a:t>
            </a:r>
            <a:r>
              <a:rPr dirty="0"/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3A3279-708F-4A19-8D9B-C64D4AF9CC30}"/>
              </a:ext>
            </a:extLst>
          </p:cNvPr>
          <p:cNvSpPr>
            <a:spLocks noGrp="1"/>
          </p:cNvSpPr>
          <p:nvPr/>
        </p:nvSpPr>
        <p:spPr>
          <a:xfrm>
            <a:off x="552450" y="4010025"/>
            <a:ext cx="110871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575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marL="177800" indent="-101600" algn="l">
              <a:spcAft>
                <a:spcPts val="0"/>
              </a:spcAft>
              <a:buChar char="•"/>
              <a:defRPr sz="1575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dirty="0"/>
              <a:t>本地补载带宽：</a:t>
            </a:r>
            <a:r>
              <a:rPr b="1" dirty="0">
                <a:solidFill>
                  <a:srgbClr val="9C2F32"/>
                </a:solidFill>
              </a:rPr>
              <a:t>50 GB/s/</a:t>
            </a:r>
            <a:r>
              <a:rPr b="1" dirty="0" err="1">
                <a:solidFill>
                  <a:srgbClr val="9C2F32"/>
                </a:solidFill>
              </a:rPr>
              <a:t>卡</a:t>
            </a:r>
            <a:r>
              <a:rPr dirty="0" err="1"/>
              <a:t>，节点合计上限</a:t>
            </a:r>
            <a:r>
              <a:rPr dirty="0"/>
              <a:t> 200 GB/</a:t>
            </a:r>
            <a:r>
              <a:rPr dirty="0" err="1"/>
              <a:t>s。以</a:t>
            </a:r>
            <a:r>
              <a:rPr dirty="0"/>
              <a:t> PCIe 5.0 ×16 </a:t>
            </a:r>
            <a:r>
              <a:rPr dirty="0" err="1"/>
              <a:t>为链路参考</a:t>
            </a:r>
            <a:br>
              <a:rPr dirty="0"/>
            </a:br>
            <a:r>
              <a:rPr dirty="0" err="1"/>
              <a:t>采用工程估算值。本机</a:t>
            </a:r>
            <a:r>
              <a:rPr dirty="0"/>
              <a:t> DDR </a:t>
            </a:r>
            <a:r>
              <a:rPr dirty="0" err="1"/>
              <a:t>预先保存所负责层的专家副本</a:t>
            </a:r>
            <a:r>
              <a:rPr dirty="0"/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37EDF2-9916-4A30-A39A-8297D6995EE0}"/>
              </a:ext>
            </a:extLst>
          </p:cNvPr>
          <p:cNvSpPr>
            <a:spLocks noGrp="1"/>
          </p:cNvSpPr>
          <p:nvPr/>
        </p:nvSpPr>
        <p:spPr>
          <a:xfrm>
            <a:off x="552450" y="4676775"/>
            <a:ext cx="110871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575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marL="177800" indent="-101600" algn="l">
              <a:spcAft>
                <a:spcPts val="0"/>
              </a:spcAft>
              <a:buChar char="•"/>
              <a:defRPr sz="1575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dirty="0" err="1"/>
              <a:t>专家需求覆盖与复用：</a:t>
            </a:r>
            <a:r>
              <a:rPr b="1" dirty="0" err="1">
                <a:solidFill>
                  <a:srgbClr val="9C2F32"/>
                </a:solidFill>
              </a:rPr>
              <a:t>至少</a:t>
            </a:r>
            <a:r>
              <a:rPr b="1" dirty="0">
                <a:solidFill>
                  <a:srgbClr val="9C2F32"/>
                </a:solidFill>
              </a:rPr>
              <a:t> 95%</a:t>
            </a:r>
            <a:r>
              <a:rPr dirty="0"/>
              <a:t> </a:t>
            </a:r>
            <a:r>
              <a:rPr dirty="0" err="1"/>
              <a:t>请求无需远程专家，平均远程目标节点数</a:t>
            </a:r>
            <a:r>
              <a:rPr dirty="0"/>
              <a:t> 2.0 </a:t>
            </a:r>
            <a:r>
              <a:rPr dirty="0" err="1"/>
              <a:t>降至</a:t>
            </a:r>
            <a:r>
              <a:rPr dirty="0"/>
              <a:t> 0.05。</a:t>
            </a:r>
            <a:br>
              <a:rPr dirty="0"/>
            </a:br>
            <a:r>
              <a:rPr dirty="0" err="1"/>
              <a:t>每层初载</a:t>
            </a:r>
            <a:r>
              <a:rPr dirty="0"/>
              <a:t> 10 专家、64 </a:t>
            </a:r>
            <a:r>
              <a:rPr dirty="0" err="1"/>
              <a:t>步新增复制</a:t>
            </a:r>
            <a:r>
              <a:rPr dirty="0"/>
              <a:t> 2 </a:t>
            </a:r>
            <a:r>
              <a:rPr dirty="0" err="1"/>
              <a:t>专家。基于亲和性的目标假设，待大规模</a:t>
            </a:r>
            <a:r>
              <a:rPr dirty="0"/>
              <a:t> Top-8 </a:t>
            </a:r>
            <a:r>
              <a:rPr dirty="0" err="1"/>
              <a:t>验证</a:t>
            </a:r>
            <a:r>
              <a:rPr dirty="0"/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151776-909F-45EE-B49D-D48B8CC7E60D}"/>
              </a:ext>
            </a:extLst>
          </p:cNvPr>
          <p:cNvSpPr>
            <a:spLocks noGrp="1"/>
          </p:cNvSpPr>
          <p:nvPr/>
        </p:nvSpPr>
        <p:spPr>
          <a:xfrm>
            <a:off x="552450" y="5343525"/>
            <a:ext cx="110871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575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marL="177800" indent="-101600" algn="l">
              <a:spcAft>
                <a:spcPts val="0"/>
              </a:spcAft>
              <a:buChar char="•"/>
              <a:defRPr sz="1575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dirty="0" err="1"/>
              <a:t>计算成本：共同开销</a:t>
            </a:r>
            <a:r>
              <a:rPr dirty="0"/>
              <a:t> </a:t>
            </a:r>
            <a:r>
              <a:rPr b="1" dirty="0">
                <a:solidFill>
                  <a:srgbClr val="9C2F32"/>
                </a:solidFill>
              </a:rPr>
              <a:t>2.160 </a:t>
            </a:r>
            <a:r>
              <a:rPr b="1" dirty="0" err="1">
                <a:solidFill>
                  <a:srgbClr val="9C2F32"/>
                </a:solidFill>
              </a:rPr>
              <a:t>ms</a:t>
            </a:r>
            <a:r>
              <a:rPr dirty="0" err="1"/>
              <a:t>，其中专家</a:t>
            </a:r>
            <a:r>
              <a:rPr dirty="0"/>
              <a:t> GEMM </a:t>
            </a:r>
            <a:r>
              <a:rPr dirty="0" err="1"/>
              <a:t>为</a:t>
            </a:r>
            <a:r>
              <a:rPr dirty="0"/>
              <a:t> 0.944 </a:t>
            </a:r>
            <a:r>
              <a:rPr dirty="0" err="1"/>
              <a:t>ms，参考</a:t>
            </a:r>
            <a:r>
              <a:rPr dirty="0"/>
              <a:t> </a:t>
            </a:r>
            <a:r>
              <a:rPr dirty="0" err="1"/>
              <a:t>DeepSeek</a:t>
            </a:r>
            <a:r>
              <a:rPr dirty="0"/>
              <a:t> profiling</a:t>
            </a:r>
            <a:br>
              <a:rPr dirty="0"/>
            </a:br>
            <a:r>
              <a:rPr dirty="0" err="1"/>
              <a:t>按工作量外推。额外专家计算按</a:t>
            </a:r>
            <a:r>
              <a:rPr dirty="0"/>
              <a:t> 5%（0.0472 </a:t>
            </a:r>
            <a:r>
              <a:rPr dirty="0" err="1"/>
              <a:t>ms）计入，两侧均完整计入</a:t>
            </a:r>
            <a:r>
              <a:rPr dirty="0"/>
              <a:t> Gate。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80056D-0B07-403F-BF55-7D79A41ACA58}"/>
              </a:ext>
            </a:extLst>
          </p:cNvPr>
          <p:cNvSpPr>
            <a:spLocks noGrp="1"/>
          </p:cNvSpPr>
          <p:nvPr/>
        </p:nvSpPr>
        <p:spPr>
          <a:xfrm>
            <a:off x="552450" y="6143625"/>
            <a:ext cx="110871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275" b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275" b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rPr>
              <a:t>上述收益为同批量阶段能力，整机吞吐仍取决于瓶颈阶段及流水线利用率。</a:t>
            </a:r>
          </a:p>
        </p:txBody>
      </p:sp>
    </p:spTree>
    <p:extLst>
      <p:ext uri="{BB962C8B-B14F-4D97-AF65-F5344CB8AC3E}">
        <p14:creationId xmlns:p14="http://schemas.microsoft.com/office/powerpoint/2010/main" val="1105206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9360747-B0BD-4FBB-A221-9B211BBDBCEF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110871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725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725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技术效果 / 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770164-D0BC-424F-8DCF-C862BDA43C7F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1087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550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550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1111"/>
                </a:solidFill>
                <a:latin typeface="Hiragino Sans GB"/>
                <a:ea typeface="Hiragino Sans GB"/>
                <a:cs typeface="Hiragino Sans GB"/>
              </a:rPr>
              <a:t>收益计算与通信隐藏比例的影响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7CAAD9-919F-4330-8668-E2A07142EF85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350" b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350" b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E37D8C-4D3A-4906-8AE3-DC9584ADFC22}"/>
              </a:ext>
            </a:extLst>
          </p:cNvPr>
          <p:cNvSpPr>
            <a:spLocks noGrp="1"/>
          </p:cNvSpPr>
          <p:nvPr/>
        </p:nvSpPr>
        <p:spPr>
          <a:xfrm>
            <a:off x="552450" y="1190625"/>
            <a:ext cx="11087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65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通信节省：EP 暴露时间从 0.4404 降至 0.0110 ms，每步节省 0.4294 ms。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B2D91E-B2F4-4E01-914C-A1CE3EEB441A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11087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575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575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新增成本：补载 0.0964 + 分组 0.0156 + 额外计算 0.0472 + 控制及排队 0.0240 = 0.1832 ms。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601959-9674-458A-AE35-663EC7F4BEBE}"/>
              </a:ext>
            </a:extLst>
          </p:cNvPr>
          <p:cNvSpPr>
            <a:spLocks noGrp="1"/>
          </p:cNvSpPr>
          <p:nvPr/>
        </p:nvSpPr>
        <p:spPr>
          <a:xfrm>
            <a:off x="552450" y="1857375"/>
            <a:ext cx="11087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725" b="1">
                <a:solidFill>
                  <a:srgbClr val="9C2F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725" b="1">
                <a:solidFill>
                  <a:srgbClr val="9C2F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9C2F32"/>
                </a:solidFill>
                <a:latin typeface="Hiragino Sans GB"/>
                <a:ea typeface="Hiragino Sans GB"/>
                <a:cs typeface="Hiragino Sans GB"/>
              </a:rPr>
              <a:t>阶段能力提升：2.6004 ÷（2.6004 − 0.4294 + 0.1832）− 1 ≈ 10.5%。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25C24FA-8D51-412F-8F3A-6E1A24920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8993" y="2247900"/>
            <a:ext cx="9894013" cy="40767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C72068C-B46D-4DB2-8ACA-1C7F6CC05B33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0572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200" b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200" b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555"/>
                </a:solidFill>
                <a:latin typeface="Hiragino Sans GB"/>
                <a:ea typeface="Hiragino Sans GB"/>
                <a:cs typeface="Hiragino Sans GB"/>
              </a:rPr>
              <a:t>仅改变通信隐藏比例，两侧采用相同比例。本地补载完整计费，EP 跨节点载荷降幅始终为 97.5%。</a:t>
            </a:r>
          </a:p>
        </p:txBody>
      </p:sp>
    </p:spTree>
    <p:extLst>
      <p:ext uri="{BB962C8B-B14F-4D97-AF65-F5344CB8AC3E}">
        <p14:creationId xmlns:p14="http://schemas.microsoft.com/office/powerpoint/2010/main" val="56695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技术保护点"/>
          <p:cNvSpPr txBox="1"/>
          <p:nvPr/>
        </p:nvSpPr>
        <p:spPr>
          <a:xfrm>
            <a:off x="552450" y="228600"/>
            <a:ext cx="10763250" cy="171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3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技术保护点</a:t>
            </a:r>
          </a:p>
        </p:txBody>
      </p:sp>
      <p:sp>
        <p:nvSpPr>
          <p:cNvPr id="241" name="保护一个模块内的需求、驻留与执行连接"/>
          <p:cNvSpPr txBox="1"/>
          <p:nvPr/>
        </p:nvSpPr>
        <p:spPr>
          <a:xfrm>
            <a:off x="552450" y="609600"/>
            <a:ext cx="11049000" cy="349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保护一个模块内的需求、驻留与执行连接</a:t>
            </a:r>
          </a:p>
        </p:txBody>
      </p:sp>
      <p:sp>
        <p:nvSpPr>
          <p:cNvPr id="242" name="09"/>
          <p:cNvSpPr txBox="1"/>
          <p:nvPr/>
        </p:nvSpPr>
        <p:spPr>
          <a:xfrm>
            <a:off x="11334750" y="6429375"/>
            <a:ext cx="381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10</a:t>
            </a:r>
          </a:p>
        </p:txBody>
      </p:sp>
      <p:sp>
        <p:nvSpPr>
          <p:cNvPr id="243" name="保护点一：请求需求与专家位置的关联存储"/>
          <p:cNvSpPr txBox="1"/>
          <p:nvPr/>
        </p:nvSpPr>
        <p:spPr>
          <a:xfrm>
            <a:off x="552450" y="1400175"/>
            <a:ext cx="110490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保护点一：请求需求与专家位置的关联存储</a:t>
            </a:r>
          </a:p>
        </p:txBody>
      </p:sp>
      <p:sp>
        <p:nvSpPr>
          <p:cNvPr id="244" name="按请求和层保存历史与本轮位图，关联本地驻留目录、远端源副本及在途等待状"/>
          <p:cNvSpPr txBox="1"/>
          <p:nvPr/>
        </p:nvSpPr>
        <p:spPr>
          <a:xfrm>
            <a:off x="552450" y="1762125"/>
            <a:ext cx="110490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模块按请求和层保存历史与本轮专家需求，并将其关联到本地驻留目录、远端源地址及在途等待状态。通过这一</a:t>
            </a:r>
          </a:p>
          <a:p>
            <a:pPr algn="l">
              <a:defRPr sz="1700">
                <a:solidFill>
                  <a:srgbClr val="9C2F32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pPr>
            <a:r>
              <a:t>关联存储</a:t>
            </a:r>
            <a:r>
              <a:rPr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rPr>
              <a:t>，硬件能够直接判断所需专家是否可用，并定位缺失专家的来源，为后续自主补载提供完整的状态依据。</a:t>
            </a:r>
          </a:p>
        </p:txBody>
      </p:sp>
      <p:sp>
        <p:nvSpPr>
          <p:cNvPr id="245" name="保护点二：独立真实路由与先行执行的协同"/>
          <p:cNvSpPr txBox="1"/>
          <p:nvPr/>
        </p:nvSpPr>
        <p:spPr>
          <a:xfrm>
            <a:off x="552450" y="2600325"/>
            <a:ext cx="110490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保护点二：独立真实路由与先行执行的协同</a:t>
            </a:r>
          </a:p>
        </p:txBody>
      </p:sp>
      <p:sp>
        <p:nvSpPr>
          <p:cNvPr id="246" name="小型 gate 与主阵列具有独立执行资源。主阵列按历史选择处理当前输入"/>
          <p:cNvSpPr txBox="1"/>
          <p:nvPr/>
        </p:nvSpPr>
        <p:spPr>
          <a:xfrm>
            <a:off x="552450" y="2962275"/>
            <a:ext cx="11049000" cy="882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独立 Gate 单元与主计算阵列并行工作，在主阵列按历史选择计算当前输入时，生成本轮真实专家 ID 与组合权重。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二者通过结果状态进行协同，使系统能够先行执行可复用的专家任务，并在真实需求确定后保留有效贡献、修正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选择差异。</a:t>
            </a:r>
          </a:p>
        </p:txBody>
      </p:sp>
      <p:sp>
        <p:nvSpPr>
          <p:cNvPr id="247" name="保护点三：驻留差分直接触发设备自主补载"/>
          <p:cNvSpPr txBox="1"/>
          <p:nvPr/>
        </p:nvSpPr>
        <p:spPr>
          <a:xfrm>
            <a:off x="552450" y="3800475"/>
            <a:ext cx="110490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保护点三：驻留差分直接触发设备自主补载</a:t>
            </a:r>
          </a:p>
        </p:txBody>
      </p:sp>
      <p:sp>
        <p:nvSpPr>
          <p:cNvPr id="248" name="对真实需求中的缺失专家合并请求、预留槽位并形成复制描述符，正常路径无需"/>
          <p:cNvSpPr txBox="1"/>
          <p:nvPr/>
        </p:nvSpPr>
        <p:spPr>
          <a:xfrm>
            <a:off x="552450" y="4162425"/>
            <a:ext cx="11049000" cy="882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当真实需求超出本地驻留集合时，差分控制单元合并相同专家的缺失请求，预留目标槽位并直接生成复制描述符。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该连接使专家缺失能够触发</a:t>
            </a:r>
            <a:r>
              <a:rPr>
                <a:solidFill>
                  <a:srgbClr val="9C2F32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rPr>
              <a:t>设备自主补载</a:t>
            </a:r>
            <a:r>
              <a:t>，省去正常路径中的 CPU 逐次判断与提交，同时避免多个请求重复复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制同一专家。</a:t>
            </a:r>
          </a:p>
        </p:txBody>
      </p:sp>
      <p:sp>
        <p:nvSpPr>
          <p:cNvPr id="249" name="保护点四：到达事件连接计算与正确提交"/>
          <p:cNvSpPr txBox="1"/>
          <p:nvPr/>
        </p:nvSpPr>
        <p:spPr>
          <a:xfrm>
            <a:off x="552450" y="5000625"/>
            <a:ext cx="110490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保护点四：到达事件连接计算与正确提交</a:t>
            </a:r>
          </a:p>
        </p:txBody>
      </p:sp>
      <p:sp>
        <p:nvSpPr>
          <p:cNvPr id="250" name="副本可用事件直接唤醒等待任务，按本轮真实选择及权重提交结果，并保存状态"/>
          <p:cNvSpPr txBox="1"/>
          <p:nvPr/>
        </p:nvSpPr>
        <p:spPr>
          <a:xfrm>
            <a:off x="552450" y="5362575"/>
            <a:ext cx="110490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专家副本到达并确认可用后，完成事件直接唤醒关联计算。模块仅在真实贡献齐备时按本轮权重提交结果，并保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留副本与历史状态供后续生成步复用，从而将传输完成、计算就绪和结果正确性连接到同一执行机制中。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专利价值说明"/>
          <p:cNvSpPr txBox="1"/>
          <p:nvPr/>
        </p:nvSpPr>
        <p:spPr>
          <a:xfrm>
            <a:off x="552450" y="228600"/>
            <a:ext cx="10763250" cy="171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3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专利价值说明</a:t>
            </a:r>
          </a:p>
        </p:txBody>
      </p:sp>
      <p:sp>
        <p:nvSpPr>
          <p:cNvPr id="255" name="装置与方法价值，以及服务器部署收益"/>
          <p:cNvSpPr txBox="1"/>
          <p:nvPr/>
        </p:nvSpPr>
        <p:spPr>
          <a:xfrm>
            <a:off x="552450" y="609600"/>
            <a:ext cx="11049000" cy="349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装置与方法价值，以及服务器部署收益</a:t>
            </a:r>
          </a:p>
        </p:txBody>
      </p:sp>
      <p:sp>
        <p:nvSpPr>
          <p:cNvPr id="256" name="10"/>
          <p:cNvSpPr txBox="1"/>
          <p:nvPr/>
        </p:nvSpPr>
        <p:spPr>
          <a:xfrm>
            <a:off x="11334750" y="6429375"/>
            <a:ext cx="381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11</a:t>
            </a:r>
          </a:p>
        </p:txBody>
      </p:sp>
      <p:sp>
        <p:nvSpPr>
          <p:cNvPr id="257" name="专利价值类别"/>
          <p:cNvSpPr txBox="1"/>
          <p:nvPr/>
        </p:nvSpPr>
        <p:spPr>
          <a:xfrm>
            <a:off x="552450" y="1409700"/>
            <a:ext cx="5048250" cy="273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100">
                <a:solidFill>
                  <a:srgbClr val="333333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专利价值类别</a:t>
            </a:r>
          </a:p>
        </p:txBody>
      </p:sp>
      <p:sp>
        <p:nvSpPr>
          <p:cNvPr id="258" name="商业价值"/>
          <p:cNvSpPr txBox="1"/>
          <p:nvPr/>
        </p:nvSpPr>
        <p:spPr>
          <a:xfrm>
            <a:off x="6400800" y="1409700"/>
            <a:ext cx="5219700" cy="273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100">
                <a:solidFill>
                  <a:srgbClr val="333333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商业价值</a:t>
            </a:r>
          </a:p>
        </p:txBody>
      </p:sp>
      <p:sp>
        <p:nvSpPr>
          <p:cNvPr id="259" name="装置与芯片"/>
          <p:cNvSpPr txBox="1"/>
          <p:nvPr/>
        </p:nvSpPr>
        <p:spPr>
          <a:xfrm>
            <a:off x="552450" y="2047875"/>
            <a:ext cx="51435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333333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装置与芯片</a:t>
            </a:r>
          </a:p>
        </p:txBody>
      </p:sp>
      <p:sp>
        <p:nvSpPr>
          <p:cNvPr id="260" name="保护加速器内的状态存储、独立路由、差分控制与传输事件连接。"/>
          <p:cNvSpPr txBox="1"/>
          <p:nvPr/>
        </p:nvSpPr>
        <p:spPr>
          <a:xfrm>
            <a:off x="552450" y="2409825"/>
            <a:ext cx="51435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6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本方案将需求存储、独立路由和补载控制连接为加速</a:t>
            </a:r>
          </a:p>
          <a:p>
            <a:pPr algn="l">
              <a:defRPr sz="16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器内的</a:t>
            </a:r>
            <a:r>
              <a:rPr>
                <a:solidFill>
                  <a:srgbClr val="9C2F32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rPr>
              <a:t>具体装置</a:t>
            </a:r>
            <a:r>
              <a:t>，使专利能够落到明确的硬件结构及</a:t>
            </a:r>
          </a:p>
          <a:p>
            <a:pPr algn="l">
              <a:defRPr sz="16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接口，为芯片功能集成提供保护依据。</a:t>
            </a:r>
          </a:p>
        </p:txBody>
      </p:sp>
      <p:sp>
        <p:nvSpPr>
          <p:cNvPr id="261" name="服务器推理效率"/>
          <p:cNvSpPr txBox="1"/>
          <p:nvPr/>
        </p:nvSpPr>
        <p:spPr>
          <a:xfrm>
            <a:off x="6400800" y="2047875"/>
            <a:ext cx="523875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def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降低推理服务成本</a:t>
            </a:r>
          </a:p>
        </p:txBody>
      </p:sp>
      <p:sp>
        <p:nvSpPr>
          <p:cNvPr id="262" name="以可复用的专家复制减少反复 token 往返，改善通信受限阶段的服务能"/>
          <p:cNvSpPr txBox="1"/>
          <p:nvPr/>
        </p:nvSpPr>
        <p:spPr>
          <a:xfrm>
            <a:off x="6400800" y="2409825"/>
            <a:ext cx="5238750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减少跨节点 token 往返，让同一套服务器承载更多</a:t>
            </a:r>
          </a:p>
          <a:p>
            <a: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Decode 请求，</a:t>
            </a:r>
            <a:r>
              <a:rPr sz="1500" b="1">
                <a:solidFill>
                  <a:srgbClr val="9C2F32"/>
                </a:solidFill>
                <a:latin typeface="Hiragino Sans GB"/>
                <a:ea typeface="Hiragino Sans GB"/>
                <a:cs typeface="Hiragino Sans GB"/>
              </a:rPr>
              <a:t>降低单位输出 token</a:t>
            </a:r>
            <a:r>
              <a: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 的硬件成本。</a:t>
            </a:r>
          </a:p>
          <a:p>
            <a: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当前模拟预计阶段服务能力提升约 10.5%，实际</a:t>
            </a:r>
          </a:p>
          <a:p>
            <a: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成本降幅取决于该阶段是否构成整机瓶颈。</a:t>
            </a:r>
          </a:p>
        </p:txBody>
      </p:sp>
      <p:sp>
        <p:nvSpPr>
          <p:cNvPr id="263" name="执行方法"/>
          <p:cNvSpPr txBox="1"/>
          <p:nvPr/>
        </p:nvSpPr>
        <p:spPr>
          <a:xfrm>
            <a:off x="552450" y="3352800"/>
            <a:ext cx="51435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333333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执行方法</a:t>
            </a:r>
          </a:p>
        </p:txBody>
      </p:sp>
      <p:sp>
        <p:nvSpPr>
          <p:cNvPr id="264" name="覆盖并行生成需求、检测缺失、自主复制、到达执行与有效提交。"/>
          <p:cNvSpPr txBox="1"/>
          <p:nvPr/>
        </p:nvSpPr>
        <p:spPr>
          <a:xfrm>
            <a:off x="552450" y="3714750"/>
            <a:ext cx="51435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6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执行方法描述从本轮需求生成到有效结果提交的完整</a:t>
            </a:r>
          </a:p>
          <a:p>
            <a:pPr algn="l">
              <a:defRPr sz="16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过程，将装置结构与实际操作对应起来，使保护主题</a:t>
            </a:r>
          </a:p>
          <a:p>
            <a:pPr algn="l">
              <a:defRPr sz="16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能够覆盖所披露的自主补载执行方式。</a:t>
            </a:r>
          </a:p>
        </p:txBody>
      </p:sp>
      <p:sp>
        <p:nvSpPr>
          <p:cNvPr id="265" name="集成范围集中"/>
          <p:cNvSpPr txBox="1"/>
          <p:nvPr/>
        </p:nvSpPr>
        <p:spPr>
          <a:xfrm>
            <a:off x="6400800" y="3352800"/>
            <a:ext cx="523875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def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缓解网络扩容投入</a:t>
            </a:r>
          </a:p>
        </p:txBody>
      </p:sp>
      <p:sp>
        <p:nvSpPr>
          <p:cNvPr id="266" name="模块接入现有显存、计算阵列与传输引擎，形成明确的芯片功能点。"/>
          <p:cNvSpPr txBox="1"/>
          <p:nvPr/>
        </p:nvSpPr>
        <p:spPr>
          <a:xfrm>
            <a:off x="6400800" y="3714750"/>
            <a:ext cx="5238750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将持续的跨节点 token 交换转为专家驻留与少量</a:t>
            </a:r>
          </a:p>
          <a:p>
            <a: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补载，降低业务增长带来的网络传输需求，使现有</a:t>
            </a:r>
          </a:p>
          <a:p>
            <a: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网络有机会支撑更高负载，</a:t>
            </a:r>
            <a:r>
              <a:rPr sz="1500" b="1">
                <a:solidFill>
                  <a:srgbClr val="9C2F32"/>
                </a:solidFill>
                <a:latin typeface="Hiragino Sans GB"/>
                <a:ea typeface="Hiragino Sans GB"/>
                <a:cs typeface="Hiragino Sans GB"/>
              </a:rPr>
              <a:t>延后</a:t>
            </a:r>
            <a:r>
              <a: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高速网卡、交换机</a:t>
            </a:r>
          </a:p>
          <a:p>
            <a: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及互联链路的扩容投入。</a:t>
            </a:r>
          </a:p>
        </p:txBody>
      </p:sp>
      <p:sp>
        <p:nvSpPr>
          <p:cNvPr id="267" name="实施载体"/>
          <p:cNvSpPr txBox="1"/>
          <p:nvPr/>
        </p:nvSpPr>
        <p:spPr>
          <a:xfrm>
            <a:off x="552450" y="4657725"/>
            <a:ext cx="51435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333333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实施载体</a:t>
            </a:r>
          </a:p>
        </p:txBody>
      </p:sp>
      <p:sp>
        <p:nvSpPr>
          <p:cNvPr id="268" name="GPU 内独立模块为主，也可采用 NPU 控制核或同封装控制模块。"/>
          <p:cNvSpPr txBox="1"/>
          <p:nvPr/>
        </p:nvSpPr>
        <p:spPr>
          <a:xfrm>
            <a:off x="552450" y="5019675"/>
            <a:ext cx="5143500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6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主实施方式采用 GPU 内独立模块，同时说明 NPU 控</a:t>
            </a:r>
          </a:p>
          <a:p>
            <a:pPr algn="l">
              <a:defRPr sz="16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制核或同封装模块的实现形态，使技术方案能够适配</a:t>
            </a:r>
          </a:p>
          <a:p>
            <a:pPr algn="l">
              <a:defRPr sz="16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不同加速器产品，并为相应从属实施方式提供支撑。</a:t>
            </a:r>
          </a:p>
        </p:txBody>
      </p:sp>
      <p:sp>
        <p:nvSpPr>
          <p:cNvPr id="269" name="资源代价可估算"/>
          <p:cNvSpPr txBox="1"/>
          <p:nvPr/>
        </p:nvSpPr>
        <p:spPr>
          <a:xfrm>
            <a:off x="6400800" y="4657725"/>
            <a:ext cx="523875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def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形成加速器产品差异化</a:t>
            </a:r>
          </a:p>
        </p:txBody>
      </p:sp>
      <p:sp>
        <p:nvSpPr>
          <p:cNvPr id="270" name="目标约 8 MiB 片上存储/卡，两层新增专家副本约 0.985 Gi"/>
          <p:cNvSpPr txBox="1"/>
          <p:nvPr/>
        </p:nvSpPr>
        <p:spPr>
          <a:xfrm>
            <a:off x="6400800" y="5019675"/>
            <a:ext cx="5238750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>
            <a: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将需求检查与自主补载集成为面向大规模 MoE</a:t>
            </a:r>
          </a:p>
          <a:p>
            <a: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服务的芯片功能，以实际服务吞吐和部署成本体现</a:t>
            </a:r>
          </a:p>
          <a:p>
            <a: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9C2F32"/>
                </a:solidFill>
                <a:latin typeface="Hiragino Sans GB"/>
                <a:ea typeface="Hiragino Sans GB"/>
                <a:cs typeface="Hiragino Sans GB"/>
              </a:rPr>
              <a:t>产品竞争力</a:t>
            </a:r>
            <a:r>
              <a: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，为客户选型提供依据，并为芯片销售</a:t>
            </a:r>
          </a:p>
          <a:p>
            <a:pPr algn="l">
              <a:def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333333"/>
                </a:solidFill>
                <a:latin typeface="Hiragino Sans GB"/>
                <a:ea typeface="Hiragino Sans GB"/>
                <a:cs typeface="Hiragino Sans GB"/>
              </a:rPr>
              <a:t>及专利授权提供价值支撑。</a:t>
            </a:r>
          </a:p>
        </p:txBody>
      </p:sp>
      <p:sp>
        <p:nvSpPr>
          <p:cNvPr id="271" name="专家副本之外，KV、算法历史及执行缓冲单独计入容量。面积与功耗以目标工"/>
          <p:cNvSpPr txBox="1"/>
          <p:nvPr/>
        </p:nvSpPr>
        <p:spPr>
          <a:xfrm>
            <a:off x="552450" y="6143625"/>
            <a:ext cx="108585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专家副本之外，KV、算法历史及执行缓冲单独计入容量。面积与功耗以目标工艺综合为准。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可发现性"/>
          <p:cNvSpPr txBox="1"/>
          <p:nvPr/>
        </p:nvSpPr>
        <p:spPr>
          <a:xfrm>
            <a:off x="552450" y="228600"/>
            <a:ext cx="10763250" cy="171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3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可发现性</a:t>
            </a:r>
          </a:p>
        </p:txBody>
      </p:sp>
      <p:sp>
        <p:nvSpPr>
          <p:cNvPr id="276" name="可通过接口、执行事件与数据流识别技术特征"/>
          <p:cNvSpPr txBox="1"/>
          <p:nvPr/>
        </p:nvSpPr>
        <p:spPr>
          <a:xfrm>
            <a:off x="552450" y="609600"/>
            <a:ext cx="11049000" cy="349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可通过接口、执行事件与数据流识别技术特征</a:t>
            </a:r>
          </a:p>
        </p:txBody>
      </p:sp>
      <p:sp>
        <p:nvSpPr>
          <p:cNvPr id="277" name="11"/>
          <p:cNvSpPr txBox="1"/>
          <p:nvPr/>
        </p:nvSpPr>
        <p:spPr>
          <a:xfrm>
            <a:off x="11334750" y="6429375"/>
            <a:ext cx="381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12</a:t>
            </a:r>
          </a:p>
        </p:txBody>
      </p:sp>
      <p:sp>
        <p:nvSpPr>
          <p:cNvPr id="278" name="公开资料与技术文档"/>
          <p:cNvSpPr txBox="1"/>
          <p:nvPr/>
        </p:nvSpPr>
        <p:spPr>
          <a:xfrm>
            <a:off x="552450" y="1400175"/>
            <a:ext cx="110490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公开资料与技术文档</a:t>
            </a:r>
          </a:p>
        </p:txBody>
      </p:sp>
      <p:sp>
        <p:nvSpPr>
          <p:cNvPr id="279" name="关注真实路由与驻留管理的联动、GPU 内专家状态表、缺失驱动复制，以及"/>
          <p:cNvSpPr txBox="1"/>
          <p:nvPr/>
        </p:nvSpPr>
        <p:spPr>
          <a:xfrm>
            <a:off x="552450" y="1762125"/>
            <a:ext cx="110490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若产品采用类似机制，架构白皮书、开发者手册或专利文本中可能披露真实路由与驻留管理的连接方式。将专家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状态表、缺失驱动复制及到达后执行等描述对应起来，可帮助定位相关模块及其实际承担的功能。</a:t>
            </a:r>
          </a:p>
        </p:txBody>
      </p:sp>
      <p:sp>
        <p:nvSpPr>
          <p:cNvPr id="280" name="硬件接口与运行时痕迹"/>
          <p:cNvSpPr txBox="1"/>
          <p:nvPr/>
        </p:nvSpPr>
        <p:spPr>
          <a:xfrm>
            <a:off x="552450" y="2600325"/>
            <a:ext cx="110490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硬件接口与运行时痕迹</a:t>
            </a:r>
          </a:p>
        </p:txBody>
      </p:sp>
      <p:sp>
        <p:nvSpPr>
          <p:cNvPr id="281" name="查找专家源目录注册、驻留预算、请求位图、复制描述符、专家就绪事件和推测"/>
          <p:cNvSpPr txBox="1"/>
          <p:nvPr/>
        </p:nvSpPr>
        <p:spPr>
          <a:xfrm>
            <a:off x="552450" y="2962275"/>
            <a:ext cx="110490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专家源目录注册、驻留预算和请求状态通常需要通过接口进行配置，补载执行还会留下复制描述符与完成事件。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检查这些硬件</a:t>
            </a:r>
            <a:r>
              <a:rPr>
                <a:solidFill>
                  <a:srgbClr val="9C2F32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rPr>
              <a:t>接口与运行时痕迹</a:t>
            </a:r>
            <a:r>
              <a:t>，可在内部电路细节未公开时，为判断需求检查与自主补载是否相连提供线索。</a:t>
            </a:r>
          </a:p>
        </p:txBody>
      </p:sp>
      <p:sp>
        <p:nvSpPr>
          <p:cNvPr id="282" name="性能分析与行为特征"/>
          <p:cNvSpPr txBox="1"/>
          <p:nvPr/>
        </p:nvSpPr>
        <p:spPr>
          <a:xfrm>
            <a:off x="552450" y="3800475"/>
            <a:ext cx="110490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性能分析与行为特征</a:t>
            </a:r>
          </a:p>
        </p:txBody>
      </p:sp>
      <p:sp>
        <p:nvSpPr>
          <p:cNvPr id="283" name="固定请求组后改变专家需求，观察首次权重复制、后续本地复用，以及缺失时设"/>
          <p:cNvSpPr txBox="1"/>
          <p:nvPr/>
        </p:nvSpPr>
        <p:spPr>
          <a:xfrm>
            <a:off x="552450" y="4162425"/>
            <a:ext cx="11049000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可以固定请求组并有控制地改变专家需求，观察首次权重复制、后续本地复用，以及缺失时的设备传输事件和 CP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U 提交活动。对比这些行为，有助于判断传输是否由专家缺失触发，以及正常路径是否仍依赖逐次主机调度。</a:t>
            </a:r>
          </a:p>
        </p:txBody>
      </p:sp>
      <p:sp>
        <p:nvSpPr>
          <p:cNvPr id="284" name="关键证据组合"/>
          <p:cNvSpPr txBox="1"/>
          <p:nvPr/>
        </p:nvSpPr>
        <p:spPr>
          <a:xfrm>
            <a:off x="552450" y="5000625"/>
            <a:ext cx="110490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关键证据组合</a:t>
            </a:r>
          </a:p>
        </p:txBody>
      </p:sp>
      <p:sp>
        <p:nvSpPr>
          <p:cNvPr id="285" name="将请求需求、驻留差分、设备复制与计算唤醒在同一次执行中对应起来，再核对"/>
          <p:cNvSpPr txBox="1"/>
          <p:nvPr/>
        </p:nvSpPr>
        <p:spPr>
          <a:xfrm>
            <a:off x="552450" y="5362575"/>
            <a:ext cx="11049000" cy="882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更有价值的证据是将同一次执行中的需求变化、驻留差分、专家复制和计算唤醒相互对应，并核对结果按真实路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由提交。通过</a:t>
            </a:r>
            <a:r>
              <a:rPr>
                <a:solidFill>
                  <a:srgbClr val="9C2F32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rPr>
              <a:t>多类证据相互印证</a:t>
            </a:r>
            <a:r>
              <a:t>，可将通用通信能力与本方案的具体技术组合区分开，为后续权利要求比对提供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依据。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可规避性与上位保护"/>
          <p:cNvSpPr txBox="1"/>
          <p:nvPr/>
        </p:nvSpPr>
        <p:spPr>
          <a:xfrm>
            <a:off x="552450" y="228600"/>
            <a:ext cx="10763250" cy="171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3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可规避性与上位保护</a:t>
            </a:r>
          </a:p>
        </p:txBody>
      </p:sp>
      <p:sp>
        <p:nvSpPr>
          <p:cNvPr id="290" name="围绕模块的状态与事件连接组织保护范围"/>
          <p:cNvSpPr txBox="1"/>
          <p:nvPr/>
        </p:nvSpPr>
        <p:spPr>
          <a:xfrm>
            <a:off x="552450" y="609600"/>
            <a:ext cx="11049000" cy="349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围绕模块的状态与事件连接组织保护范围</a:t>
            </a:r>
          </a:p>
        </p:txBody>
      </p:sp>
      <p:sp>
        <p:nvSpPr>
          <p:cNvPr id="291" name="12"/>
          <p:cNvSpPr txBox="1"/>
          <p:nvPr/>
        </p:nvSpPr>
        <p:spPr>
          <a:xfrm>
            <a:off x="11334750" y="6429375"/>
            <a:ext cx="381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13</a:t>
            </a:r>
          </a:p>
        </p:txBody>
      </p:sp>
      <p:sp>
        <p:nvSpPr>
          <p:cNvPr id="292" name="对象表述泛化"/>
          <p:cNvSpPr txBox="1"/>
          <p:nvPr/>
        </p:nvSpPr>
        <p:spPr>
          <a:xfrm>
            <a:off x="552450" y="1400175"/>
            <a:ext cx="110490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对象表述泛化</a:t>
            </a:r>
          </a:p>
        </p:txBody>
      </p:sp>
      <p:sp>
        <p:nvSpPr>
          <p:cNvPr id="293" name="通过更换模块名称、位图表示、复制引擎或微码实现，保留同样的需求检查与补"/>
          <p:cNvSpPr txBox="1"/>
          <p:nvPr/>
        </p:nvSpPr>
        <p:spPr>
          <a:xfrm>
            <a:off x="552450" y="1762125"/>
            <a:ext cx="11049000" cy="882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竞争方案可能将“专家”改称参数块、计算分支数据或模型数据，从名称上弱化专家管理特征。说明书应定义这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类对象为由请求路由选取、供计算单元使用的</a:t>
            </a:r>
            <a:r>
              <a:rPr>
                <a:solidFill>
                  <a:srgbClr val="9C2F32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rPr>
              <a:t>模型参数单元</a:t>
            </a:r>
            <a:r>
              <a:t>，并据此组织上位表述，再以专家权重作为具体实施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例，避免只靠“专家”名称限定保护。</a:t>
            </a:r>
          </a:p>
        </p:txBody>
      </p:sp>
      <p:sp>
        <p:nvSpPr>
          <p:cNvPr id="294" name="模块拆分与位置变化"/>
          <p:cNvSpPr txBox="1"/>
          <p:nvPr/>
        </p:nvSpPr>
        <p:spPr>
          <a:xfrm>
            <a:off x="552450" y="2600325"/>
            <a:ext cx="110490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模块拆分与位置变化</a:t>
            </a:r>
          </a:p>
        </p:txBody>
      </p:sp>
      <p:sp>
        <p:nvSpPr>
          <p:cNvPr id="295" name="同类功能可位于 GPU、NPU 控制核或同封装模块。主实施例明确 GP"/>
          <p:cNvSpPr txBox="1"/>
          <p:nvPr/>
        </p:nvSpPr>
        <p:spPr>
          <a:xfrm>
            <a:off x="552450" y="2962275"/>
            <a:ext cx="11049000" cy="882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竞争方案可能把需求判断、状态存储和补载控制拆到不同单元，或放入 NPU 控制核、同封装芯片。应在说明书中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补充相应实现，按单元之间的</a:t>
            </a:r>
            <a:r>
              <a:rPr>
                <a:solidFill>
                  <a:srgbClr val="9C2F32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rPr>
              <a:t>接口、状态共享和事件连接</a:t>
            </a:r>
            <a:r>
              <a:t>描述装置，并以 GPU 内独立模块作为具体形态，降低物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理布局变化造成的规避空间。</a:t>
            </a:r>
          </a:p>
        </p:txBody>
      </p:sp>
      <p:sp>
        <p:nvSpPr>
          <p:cNvPr id="296" name="状态表示替换"/>
          <p:cNvSpPr txBox="1"/>
          <p:nvPr/>
        </p:nvSpPr>
        <p:spPr>
          <a:xfrm>
            <a:off x="552450" y="3800475"/>
            <a:ext cx="110490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状态表示替换</a:t>
            </a:r>
          </a:p>
        </p:txBody>
      </p:sp>
      <p:sp>
        <p:nvSpPr>
          <p:cNvPr id="297" name="采用“专家需求状态”“驻留状态”“数据传输请求”和“可用事件”等表述，"/>
          <p:cNvSpPr txBox="1"/>
          <p:nvPr/>
        </p:nvSpPr>
        <p:spPr>
          <a:xfrm>
            <a:off x="552450" y="4162425"/>
            <a:ext cx="11049000" cy="882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竞争方案可能用列表、哈希表或标签目录替代位图，继续完成相同的需求与驻留比较。应将保护对象表述为专家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需求状态、驻留状态及其</a:t>
            </a:r>
            <a:r>
              <a:rPr>
                <a:solidFill>
                  <a:srgbClr val="9C2F32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rPr>
              <a:t>差异判断</a:t>
            </a:r>
            <a:r>
              <a:t>，并说明不同表示如何识别缺失成员、关联源地址和等待任务，再以位图及按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位运算限定具体实施方式。</a:t>
            </a:r>
          </a:p>
        </p:txBody>
      </p:sp>
      <p:sp>
        <p:nvSpPr>
          <p:cNvPr id="298" name="执行时序与触发变化"/>
          <p:cNvSpPr txBox="1"/>
          <p:nvPr/>
        </p:nvSpPr>
        <p:spPr>
          <a:xfrm>
            <a:off x="552450" y="5000625"/>
            <a:ext cx="110490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执行时序与触发变化</a:t>
            </a:r>
          </a:p>
        </p:txBody>
      </p:sp>
      <p:sp>
        <p:nvSpPr>
          <p:cNvPr id="299" name="独立真实路由与历史先行执行相配合，驻留差分直接驱动复制，可用事件连接计"/>
          <p:cNvSpPr txBox="1"/>
          <p:nvPr/>
        </p:nvSpPr>
        <p:spPr>
          <a:xfrm>
            <a:off x="552450" y="5362575"/>
            <a:ext cx="11049000" cy="882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竞争方案可能提前预取、周期性检查需求，或先完成真实路由再安排专家计算，改变补载的触发时点。应补充这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些时序的实施依据，明确需求与驻留差异驱动传输、可用事件控制任务就绪的</a:t>
            </a:r>
            <a:r>
              <a:rPr>
                <a:solidFill>
                  <a:srgbClr val="9C2F32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rPr>
              <a:t>依赖关系</a:t>
            </a:r>
            <a:r>
              <a:t>，再将历史先行执行与独</a:t>
            </a:r>
          </a:p>
          <a:p>
            <a:pPr algn="l">
              <a:defRPr sz="17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立 Gate 并行校验作为具体实施分支。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检索公式"/>
          <p:cNvSpPr txBox="1"/>
          <p:nvPr/>
        </p:nvSpPr>
        <p:spPr>
          <a:xfrm>
            <a:off x="552450" y="228600"/>
            <a:ext cx="10763250" cy="171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3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检索公式</a:t>
            </a:r>
          </a:p>
        </p:txBody>
      </p:sp>
      <p:sp>
        <p:nvSpPr>
          <p:cNvPr id="304" name="按专家需求、驻留管理和自主执行组合检索"/>
          <p:cNvSpPr txBox="1"/>
          <p:nvPr/>
        </p:nvSpPr>
        <p:spPr>
          <a:xfrm>
            <a:off x="552450" y="609600"/>
            <a:ext cx="11049000" cy="349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按专家需求、驻留管理和自主执行组合检索</a:t>
            </a:r>
          </a:p>
        </p:txBody>
      </p:sp>
      <p:sp>
        <p:nvSpPr>
          <p:cNvPr id="305" name="13"/>
          <p:cNvSpPr txBox="1"/>
          <p:nvPr/>
        </p:nvSpPr>
        <p:spPr>
          <a:xfrm>
            <a:off x="11334750" y="6429375"/>
            <a:ext cx="381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14</a:t>
            </a:r>
          </a:p>
        </p:txBody>
      </p:sp>
      <p:sp>
        <p:nvSpPr>
          <p:cNvPr id="306" name="F1  专家需求与驻留"/>
          <p:cNvSpPr txBox="1"/>
          <p:nvPr/>
        </p:nvSpPr>
        <p:spPr>
          <a:xfrm>
            <a:off x="552450" y="1400175"/>
            <a:ext cx="110871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333333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F1  专家需求与驻留</a:t>
            </a:r>
          </a:p>
        </p:txBody>
      </p:sp>
      <p:sp>
        <p:nvSpPr>
          <p:cNvPr id="307" name="(&quot;mixture of experts&quot; OR MoE) AND ("/>
          <p:cNvSpPr txBox="1"/>
          <p:nvPr/>
        </p:nvSpPr>
        <p:spPr>
          <a:xfrm>
            <a:off x="552450" y="1762125"/>
            <a:ext cx="11087100" cy="196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("mixture of experts" OR MoE) AND (residency OR "expert cache") AND (routing OR affinity)</a:t>
            </a:r>
          </a:p>
        </p:txBody>
      </p:sp>
      <p:sp>
        <p:nvSpPr>
          <p:cNvPr id="308" name="F2  专家迁移与复制"/>
          <p:cNvSpPr txBox="1"/>
          <p:nvPr/>
        </p:nvSpPr>
        <p:spPr>
          <a:xfrm>
            <a:off x="552450" y="2343150"/>
            <a:ext cx="110871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333333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F2  专家迁移与复制</a:t>
            </a:r>
          </a:p>
        </p:txBody>
      </p:sp>
      <p:sp>
        <p:nvSpPr>
          <p:cNvPr id="309" name="(&quot;expert migration&quot; OR &quot;expert repl"/>
          <p:cNvSpPr txBox="1"/>
          <p:nvPr/>
        </p:nvSpPr>
        <p:spPr>
          <a:xfrm>
            <a:off x="552450" y="2705100"/>
            <a:ext cx="11087100" cy="196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("expert migration" OR "expert replication" OR "hot expert buffer") AND (GPU OR accelerator)</a:t>
            </a:r>
          </a:p>
        </p:txBody>
      </p:sp>
      <p:sp>
        <p:nvSpPr>
          <p:cNvPr id="310" name="F3  自主传输与事件"/>
          <p:cNvSpPr txBox="1"/>
          <p:nvPr/>
        </p:nvSpPr>
        <p:spPr>
          <a:xfrm>
            <a:off x="552450" y="3286125"/>
            <a:ext cx="110871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333333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F3  自主传输与事件</a:t>
            </a:r>
          </a:p>
        </p:txBody>
      </p:sp>
      <p:sp>
        <p:nvSpPr>
          <p:cNvPr id="311" name="(&quot;device initiated&quot; OR autonomous) "/>
          <p:cNvSpPr txBox="1"/>
          <p:nvPr/>
        </p:nvSpPr>
        <p:spPr>
          <a:xfrm>
            <a:off x="552450" y="3648075"/>
            <a:ext cx="11087100" cy="196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("device initiated" OR autonomous) AND (transfer OR prefetch) AND (expert OR routing)</a:t>
            </a:r>
          </a:p>
        </p:txBody>
      </p:sp>
      <p:sp>
        <p:nvSpPr>
          <p:cNvPr id="312" name="F4  独立路由与执行校验"/>
          <p:cNvSpPr txBox="1"/>
          <p:nvPr/>
        </p:nvSpPr>
        <p:spPr>
          <a:xfrm>
            <a:off x="552450" y="4229100"/>
            <a:ext cx="110871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333333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F4  独立路由与执行校验</a:t>
            </a:r>
          </a:p>
        </p:txBody>
      </p:sp>
      <p:sp>
        <p:nvSpPr>
          <p:cNvPr id="313" name="(&quot;routing acceleration&quot; OR &quot;gate un"/>
          <p:cNvSpPr txBox="1"/>
          <p:nvPr/>
        </p:nvSpPr>
        <p:spPr>
          <a:xfrm>
            <a:off x="552450" y="4591050"/>
            <a:ext cx="11087100" cy="196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("routing acceleration" OR "gate unit") AND (speculative OR residency OR "completion event")</a:t>
            </a:r>
          </a:p>
        </p:txBody>
      </p:sp>
      <p:sp>
        <p:nvSpPr>
          <p:cNvPr id="314" name="F5  中文组合"/>
          <p:cNvSpPr txBox="1"/>
          <p:nvPr/>
        </p:nvSpPr>
        <p:spPr>
          <a:xfrm>
            <a:off x="552450" y="5172075"/>
            <a:ext cx="110871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333333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F5  中文组合</a:t>
            </a:r>
          </a:p>
        </p:txBody>
      </p:sp>
      <p:sp>
        <p:nvSpPr>
          <p:cNvPr id="315" name="(&quot;混合专家&quot; OR &quot;专家缓存&quot;) AND (&quot;驻留&quot; OR &quot;补载"/>
          <p:cNvSpPr txBox="1"/>
          <p:nvPr/>
        </p:nvSpPr>
        <p:spPr>
          <a:xfrm>
            <a:off x="552450" y="5534025"/>
            <a:ext cx="11087100" cy="196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("混合专家" OR "专家缓存") AND ("驻留" OR "补载" OR "迁移") AND ("加速器" OR "设备自主")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参考文献表"/>
          <p:cNvSpPr txBox="1"/>
          <p:nvPr/>
        </p:nvSpPr>
        <p:spPr>
          <a:xfrm>
            <a:off x="552450" y="228600"/>
            <a:ext cx="10763250" cy="171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3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参考文献表</a:t>
            </a:r>
          </a:p>
        </p:txBody>
      </p:sp>
      <p:sp>
        <p:nvSpPr>
          <p:cNvPr id="320" name="公开文本、来源与相关技术位置"/>
          <p:cNvSpPr txBox="1"/>
          <p:nvPr/>
        </p:nvSpPr>
        <p:spPr>
          <a:xfrm>
            <a:off x="552450" y="609600"/>
            <a:ext cx="11049000" cy="349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公开文本、来源与相关技术位置</a:t>
            </a:r>
          </a:p>
        </p:txBody>
      </p:sp>
      <p:sp>
        <p:nvSpPr>
          <p:cNvPr id="321" name="14"/>
          <p:cNvSpPr txBox="1"/>
          <p:nvPr/>
        </p:nvSpPr>
        <p:spPr>
          <a:xfrm>
            <a:off x="11334750" y="6429375"/>
            <a:ext cx="381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15</a:t>
            </a:r>
          </a:p>
        </p:txBody>
      </p:sp>
      <p:sp>
        <p:nvSpPr>
          <p:cNvPr id="322" name="专利公开文本复核：2026-10-13。表中日期为公开日，技术范围定位"/>
          <p:cNvSpPr txBox="1"/>
          <p:nvPr/>
        </p:nvSpPr>
        <p:spPr>
          <a:xfrm>
            <a:off x="552450" y="6267450"/>
            <a:ext cx="1057275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专利公开文本复核：2026-10-13。表中日期为公开日，技术范围定位以所列公开文本为依据</a:t>
            </a:r>
          </a:p>
        </p:txBody>
      </p:sp>
      <p:graphicFrame>
        <p:nvGraphicFramePr>
          <p:cNvPr id="323" name="表格 1"/>
          <p:cNvGraphicFramePr/>
          <p:nvPr/>
        </p:nvGraphicFramePr>
        <p:xfrm>
          <a:off x="552450" y="1333500"/>
          <a:ext cx="11087100" cy="3429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6"/>
                          <a:ea typeface="冬青黑体简体中文 W6"/>
                          <a:cs typeface="冬青黑体简体中文 W6"/>
                          <a:sym typeface="冬青黑体简体中文 W6"/>
                        </a:rPr>
                        <a:t>国别 / 公开编号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6"/>
                          <a:ea typeface="冬青黑体简体中文 W6"/>
                          <a:cs typeface="冬青黑体简体中文 W6"/>
                          <a:sym typeface="冬青黑体简体中文 W6"/>
                        </a:rPr>
                        <a:t>公开日期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6"/>
                          <a:ea typeface="冬青黑体简体中文 W6"/>
                          <a:cs typeface="冬青黑体简体中文 W6"/>
                          <a:sym typeface="冬青黑体简体中文 W6"/>
                        </a:rPr>
                        <a:t>来源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6"/>
                          <a:ea typeface="冬青黑体简体中文 W6"/>
                          <a:cs typeface="冬青黑体简体中文 W6"/>
                          <a:sym typeface="冬青黑体简体中文 W6"/>
                        </a:rPr>
                        <a:t>相关位置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美国  US20250086424A1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2025-03-13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Google Patents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权利要求 1、6、8、13
路由管理与专家迁移 / 复制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美国  US20250356164A1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2025-11-20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Google Patents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权利要求 1、3、4
完整 / 部分热专家缓冲与预取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美国  US20250190755A1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2025-06-12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Google Patents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权利要求 1、6、7
路由矩阵向量计算与选择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中国  CN120235253A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2025-07-01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Google Patents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权利要求 1、4–6
CPU / GPU 队列与专家缓存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美国  US20260099697A1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2026-04-09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Google Patents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权利要求 1、3–5
全局 / 局部专家选择、表驱动预取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美国  US20260252911A1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2026-08-27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Justia Patents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权利要求 1、5、6
独立硬件预测跨层专家、预取与补载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美国  US20260141259A1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2026-05-21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Google Patents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权利要求 1、2（训练场景）
共享专家计算与 All-to-All 通信重叠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美国  US20250190367A1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2025-06-12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Google Patents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11111"/>
                          </a:solidFill>
                          <a:latin typeface="冬青黑体简体中文 W3"/>
                          <a:ea typeface="冬青黑体简体中文 W3"/>
                          <a:cs typeface="冬青黑体简体中文 W3"/>
                          <a:sym typeface="冬青黑体简体中文 W3"/>
                        </a:rPr>
                        <a:t>权利要求 1、2、8、10
历史地址缓冲与跨缓存域传输触发</a:t>
                      </a:r>
                    </a:p>
                  </a:txBody>
                  <a:tcPr marL="0" marR="0" marT="0" marB="0" anchor="ctr" horzOverflow="overflow">
                    <a:lnL w="5715">
                      <a:solidFill>
                        <a:srgbClr val="AAAAAA"/>
                      </a:solidFill>
                    </a:lnL>
                    <a:lnR w="5715">
                      <a:solidFill>
                        <a:srgbClr val="AAAAAA"/>
                      </a:solidFill>
                    </a:lnR>
                    <a:lnT w="5715">
                      <a:solidFill>
                        <a:srgbClr val="AAAAAA"/>
                      </a:solidFill>
                    </a:lnT>
                    <a:lnB w="5715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24" name="系统与性能依据"/>
          <p:cNvSpPr txBox="1"/>
          <p:nvPr/>
        </p:nvSpPr>
        <p:spPr>
          <a:xfrm>
            <a:off x="552450" y="4867275"/>
            <a:ext cx="110871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333333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系统与性能依据</a:t>
            </a:r>
          </a:p>
        </p:txBody>
      </p:sp>
      <p:sp>
        <p:nvSpPr>
          <p:cNvPr id="325" name="DeepEP v1.2.1：通信实测表　　DeepSeek profi"/>
          <p:cNvSpPr txBox="1"/>
          <p:nvPr/>
        </p:nvSpPr>
        <p:spPr>
          <a:xfrm>
            <a:off x="552450" y="5276850"/>
            <a:ext cx="110871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6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DeepEP v1.2.1：通信实测表　　DeepSeek profile-data：decode.json</a:t>
            </a:r>
          </a:p>
          <a:p>
            <a:pPr algn="l">
              <a:defRPr sz="16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DeepSeek-V3：模型配置　　Dynamo：PD 交接　　NCCL：设备侧通信 API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重点现有专利对比 / 1"/>
          <p:cNvSpPr txBox="1"/>
          <p:nvPr/>
        </p:nvSpPr>
        <p:spPr>
          <a:xfrm>
            <a:off x="552450" y="228600"/>
            <a:ext cx="10763250" cy="171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3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重点现有专利对比 / 1</a:t>
            </a:r>
          </a:p>
        </p:txBody>
      </p:sp>
      <p:sp>
        <p:nvSpPr>
          <p:cNvPr id="330" name="Intel：MoE 资源部署与跨加速器专家迁移"/>
          <p:cNvSpPr txBox="1"/>
          <p:nvPr/>
        </p:nvSpPr>
        <p:spPr>
          <a:xfrm>
            <a:off x="552450" y="609600"/>
            <a:ext cx="11049000" cy="349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Intel：MoE 资源部署与跨加速器专家迁移</a:t>
            </a:r>
          </a:p>
        </p:txBody>
      </p:sp>
      <p:sp>
        <p:nvSpPr>
          <p:cNvPr id="331" name="15"/>
          <p:cNvSpPr txBox="1"/>
          <p:nvPr/>
        </p:nvSpPr>
        <p:spPr>
          <a:xfrm>
            <a:off x="11334750" y="6429375"/>
            <a:ext cx="381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16</a:t>
            </a:r>
          </a:p>
        </p:txBody>
      </p:sp>
      <p:sp>
        <p:nvSpPr>
          <p:cNvPr id="332" name="对照重点：硬件迁移已有公开基础，具体结构和时序组合需逐项核验"/>
          <p:cNvSpPr txBox="1"/>
          <p:nvPr/>
        </p:nvSpPr>
        <p:spPr>
          <a:xfrm>
            <a:off x="552450" y="6267450"/>
            <a:ext cx="1057275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对照重点：硬件迁移已有公开基础，具体结构和时序组合需逐项核验</a:t>
            </a:r>
          </a:p>
        </p:txBody>
      </p:sp>
      <p:sp>
        <p:nvSpPr>
          <p:cNvPr id="333" name="该专利方案"/>
          <p:cNvSpPr txBox="1"/>
          <p:nvPr/>
        </p:nvSpPr>
        <p:spPr>
          <a:xfrm>
            <a:off x="552450" y="1400175"/>
            <a:ext cx="4333875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该专利方案</a:t>
            </a:r>
          </a:p>
        </p:txBody>
      </p:sp>
      <p:sp>
        <p:nvSpPr>
          <p:cNvPr id="334" name="US20250086424A1 涉及路由跟踪、预测与硬件管理，相关权利"/>
          <p:cNvSpPr txBox="1"/>
          <p:nvPr/>
        </p:nvSpPr>
        <p:spPr>
          <a:xfrm>
            <a:off x="552450" y="1800225"/>
            <a:ext cx="4333875" cy="781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US20250086424A1 涉及路由跟踪、预测与硬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件管理，相关权利要求包含跨加速器迁移或复制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专家。</a:t>
            </a:r>
          </a:p>
        </p:txBody>
      </p:sp>
      <p:sp>
        <p:nvSpPr>
          <p:cNvPr id="335" name="与本提案的技术对照"/>
          <p:cNvSpPr txBox="1"/>
          <p:nvPr/>
        </p:nvSpPr>
        <p:spPr>
          <a:xfrm>
            <a:off x="552450" y="2886075"/>
            <a:ext cx="4333875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与本提案的技术对照</a:t>
            </a:r>
          </a:p>
        </p:txBody>
      </p:sp>
      <p:sp>
        <p:nvSpPr>
          <p:cNvPr id="336" name="本提案进一步描述逐请求、逐层的真实需求与驻留差分，并把历史先行执行的结"/>
          <p:cNvSpPr txBox="1"/>
          <p:nvPr/>
        </p:nvSpPr>
        <p:spPr>
          <a:xfrm>
            <a:off x="552450" y="3286125"/>
            <a:ext cx="4333875" cy="781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本提案进一步描述逐请求、逐层的真实需求与驻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留差分，并把历史先行执行的结果校验与补载事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件连接。</a:t>
            </a:r>
          </a:p>
        </p:txBody>
      </p:sp>
      <p:sp>
        <p:nvSpPr>
          <p:cNvPr id="337" name="本提案拟保护的具体组合"/>
          <p:cNvSpPr txBox="1"/>
          <p:nvPr/>
        </p:nvSpPr>
        <p:spPr>
          <a:xfrm>
            <a:off x="552450" y="4371975"/>
            <a:ext cx="4333875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本提案拟保护的具体组合</a:t>
            </a:r>
          </a:p>
        </p:txBody>
      </p:sp>
      <p:sp>
        <p:nvSpPr>
          <p:cNvPr id="338" name="聚焦真实 gate、历史任务和驻留目录的差分控制，以及缺失复制、到达唤"/>
          <p:cNvSpPr txBox="1"/>
          <p:nvPr/>
        </p:nvSpPr>
        <p:spPr>
          <a:xfrm>
            <a:off x="552450" y="4772025"/>
            <a:ext cx="4333875" cy="781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聚焦真实 gate、历史任务和驻留目录的差分控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制，以及缺失复制、到达唤醒和有效提交在同一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模块中的联动。</a:t>
            </a:r>
          </a:p>
        </p:txBody>
      </p:sp>
      <p:pic>
        <p:nvPicPr>
          <p:cNvPr id="339" name="patent_fig_v10_15_0.png" descr="patent_fig_v10_1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432" y="1419225"/>
            <a:ext cx="5382759" cy="4438650"/>
          </a:xfrm>
          <a:prstGeom prst="rect">
            <a:avLst/>
          </a:prstGeom>
          <a:ln w="12700">
            <a:miter lim="400000"/>
          </a:ln>
        </p:spPr>
      </p:pic>
      <p:sp>
        <p:nvSpPr>
          <p:cNvPr id="340" name="原文图 13A：MoE 管理硬件加速器"/>
          <p:cNvSpPr txBox="1"/>
          <p:nvPr/>
        </p:nvSpPr>
        <p:spPr>
          <a:xfrm>
            <a:off x="5238750" y="5915025"/>
            <a:ext cx="6334125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555555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原文图 13A：MoE 管理硬件加速器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重点现有专利对比 / 2"/>
          <p:cNvSpPr txBox="1"/>
          <p:nvPr/>
        </p:nvSpPr>
        <p:spPr>
          <a:xfrm>
            <a:off x="552450" y="228600"/>
            <a:ext cx="10763250" cy="171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3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重点现有专利对比 / 2</a:t>
            </a:r>
          </a:p>
        </p:txBody>
      </p:sp>
      <p:sp>
        <p:nvSpPr>
          <p:cNvPr id="345" name="Intel：完整与部分热专家缓冲及异步预取"/>
          <p:cNvSpPr txBox="1"/>
          <p:nvPr/>
        </p:nvSpPr>
        <p:spPr>
          <a:xfrm>
            <a:off x="552450" y="609600"/>
            <a:ext cx="11049000" cy="349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Intel：完整与部分热专家缓冲及异步预取</a:t>
            </a:r>
          </a:p>
        </p:txBody>
      </p:sp>
      <p:sp>
        <p:nvSpPr>
          <p:cNvPr id="346" name="16"/>
          <p:cNvSpPr txBox="1"/>
          <p:nvPr/>
        </p:nvSpPr>
        <p:spPr>
          <a:xfrm>
            <a:off x="11334750" y="6429375"/>
            <a:ext cx="381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17</a:t>
            </a:r>
          </a:p>
        </p:txBody>
      </p:sp>
      <p:sp>
        <p:nvSpPr>
          <p:cNvPr id="347" name="对照重点：从通用专家缓存细化到请求需求、驻留状态与计算事件的连接"/>
          <p:cNvSpPr txBox="1"/>
          <p:nvPr/>
        </p:nvSpPr>
        <p:spPr>
          <a:xfrm>
            <a:off x="552450" y="6267450"/>
            <a:ext cx="1057275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对照重点：从通用专家缓存细化到请求需求、驻留状态与计算事件的连接</a:t>
            </a:r>
          </a:p>
        </p:txBody>
      </p:sp>
      <p:sp>
        <p:nvSpPr>
          <p:cNvPr id="348" name="该专利方案"/>
          <p:cNvSpPr txBox="1"/>
          <p:nvPr/>
        </p:nvSpPr>
        <p:spPr>
          <a:xfrm>
            <a:off x="552450" y="1400175"/>
            <a:ext cx="110490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该专利方案</a:t>
            </a:r>
          </a:p>
        </p:txBody>
      </p:sp>
      <p:sp>
        <p:nvSpPr>
          <p:cNvPr id="349" name="US20250356164A1 涉及完整或部分 hot expert "/>
          <p:cNvSpPr txBox="1"/>
          <p:nvPr/>
        </p:nvSpPr>
        <p:spPr>
          <a:xfrm>
            <a:off x="552450" y="1800225"/>
            <a:ext cx="4469504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US20250356164A1 涉及完整或部分 hot expert buffer，并描述异步预取和缺失加载。</a:t>
            </a:r>
          </a:p>
        </p:txBody>
      </p:sp>
      <p:sp>
        <p:nvSpPr>
          <p:cNvPr id="350" name="与本提案的技术对照"/>
          <p:cNvSpPr txBox="1"/>
          <p:nvPr/>
        </p:nvSpPr>
        <p:spPr>
          <a:xfrm>
            <a:off x="552450" y="2886075"/>
            <a:ext cx="110490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与本提案的技术对照</a:t>
            </a:r>
          </a:p>
        </p:txBody>
      </p:sp>
      <p:sp>
        <p:nvSpPr>
          <p:cNvPr id="351" name="本提案面向服务器请求组的持续驻留，使用旁路真实 gate 检查当前需求"/>
          <p:cNvSpPr txBox="1"/>
          <p:nvPr/>
        </p:nvSpPr>
        <p:spPr>
          <a:xfrm>
            <a:off x="552450" y="3286125"/>
            <a:ext cx="4469505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本提案面向服务器请求组的持续驻留，使用旁路真实 gate 检查当前需求，按远端完整专家副本驱动关联任务。</a:t>
            </a:r>
          </a:p>
        </p:txBody>
      </p:sp>
      <p:sp>
        <p:nvSpPr>
          <p:cNvPr id="352" name="本提案拟保护的具体组合"/>
          <p:cNvSpPr txBox="1"/>
          <p:nvPr/>
        </p:nvSpPr>
        <p:spPr>
          <a:xfrm>
            <a:off x="552450" y="4371975"/>
            <a:ext cx="11049000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9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本提案拟保护的具体组合</a:t>
            </a:r>
          </a:p>
        </p:txBody>
      </p:sp>
      <p:sp>
        <p:nvSpPr>
          <p:cNvPr id="353" name="将请求需求位图、源副本地址、在途等待者和真实贡献状态关联起来，使补载完"/>
          <p:cNvSpPr txBox="1"/>
          <p:nvPr/>
        </p:nvSpPr>
        <p:spPr>
          <a:xfrm>
            <a:off x="552450" y="4772025"/>
            <a:ext cx="4469504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将请求需求位图、源副本地址、在途等待者和真实贡献状态关联起来，使补载完成直接触发计算与正确提交。</a:t>
            </a:r>
          </a:p>
        </p:txBody>
      </p:sp>
      <p:pic>
        <p:nvPicPr>
          <p:cNvPr id="354" name="已粘贴的影片.png" descr="已粘贴的影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776" y="0"/>
            <a:ext cx="6179737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重点现有专利对比 / 3"/>
          <p:cNvSpPr txBox="1"/>
          <p:nvPr/>
        </p:nvSpPr>
        <p:spPr>
          <a:xfrm>
            <a:off x="552450" y="228600"/>
            <a:ext cx="10763250" cy="171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3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重点现有专利对比 / 3</a:t>
            </a:r>
          </a:p>
        </p:txBody>
      </p:sp>
      <p:sp>
        <p:nvSpPr>
          <p:cNvPr id="359" name="IBM：MoE 路由计算加速"/>
          <p:cNvSpPr txBox="1"/>
          <p:nvPr/>
        </p:nvSpPr>
        <p:spPr>
          <a:xfrm>
            <a:off x="552450" y="609600"/>
            <a:ext cx="11049000" cy="349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2700"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IBM：MoE 路由计算加速</a:t>
            </a:r>
          </a:p>
        </p:txBody>
      </p:sp>
      <p:sp>
        <p:nvSpPr>
          <p:cNvPr id="360" name="17"/>
          <p:cNvSpPr txBox="1"/>
          <p:nvPr/>
        </p:nvSpPr>
        <p:spPr>
          <a:xfrm>
            <a:off x="11334750" y="6429375"/>
            <a:ext cx="381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18</a:t>
            </a:r>
          </a:p>
        </p:txBody>
      </p:sp>
      <p:sp>
        <p:nvSpPr>
          <p:cNvPr id="361" name="申请焦点：节点内请求需求与专家驻留的动态匹配，以及实现该匹配的具体模块"/>
          <p:cNvSpPr txBox="1"/>
          <p:nvPr/>
        </p:nvSpPr>
        <p:spPr>
          <a:xfrm>
            <a:off x="552450" y="6267450"/>
            <a:ext cx="1057275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666666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申请焦点：节点内请求需求与专家驻留的动态匹配，以及实现该匹配的具体模块连接</a:t>
            </a:r>
          </a:p>
        </p:txBody>
      </p:sp>
      <p:sp>
        <p:nvSpPr>
          <p:cNvPr id="362" name="该专利方案"/>
          <p:cNvSpPr txBox="1"/>
          <p:nvPr/>
        </p:nvSpPr>
        <p:spPr>
          <a:xfrm>
            <a:off x="552450" y="1400175"/>
            <a:ext cx="4333875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该专利方案</a:t>
            </a:r>
          </a:p>
        </p:txBody>
      </p:sp>
      <p:sp>
        <p:nvSpPr>
          <p:cNvPr id="363" name="US20250190755A1 描述路由矩阵向量计算、路由向量、Sof"/>
          <p:cNvSpPr txBox="1"/>
          <p:nvPr/>
        </p:nvSpPr>
        <p:spPr>
          <a:xfrm>
            <a:off x="552450" y="1800225"/>
            <a:ext cx="4333875" cy="1073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US20250190755A1 描述路由矩阵向量计算、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路由向量、Softmax 与最大元素选择，并涉及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模拟存内计算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和数字处理。</a:t>
            </a:r>
          </a:p>
        </p:txBody>
      </p:sp>
      <p:sp>
        <p:nvSpPr>
          <p:cNvPr id="364" name="与本提案的技术对照"/>
          <p:cNvSpPr txBox="1"/>
          <p:nvPr/>
        </p:nvSpPr>
        <p:spPr>
          <a:xfrm>
            <a:off x="552450" y="2886075"/>
            <a:ext cx="4333875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与本提案的技术对照</a:t>
            </a:r>
          </a:p>
        </p:txBody>
      </p:sp>
      <p:sp>
        <p:nvSpPr>
          <p:cNvPr id="365" name="本提案的小型 gate 输出同时连接驻留检查、补载描述符与结果有效性控"/>
          <p:cNvSpPr txBox="1"/>
          <p:nvPr/>
        </p:nvSpPr>
        <p:spPr>
          <a:xfrm>
            <a:off x="552450" y="3286125"/>
            <a:ext cx="4333875" cy="1073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本提案的小型 gate 输出同时连接驻留检查、补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载描述符与结果有效性控制，服务于连续 Deco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de 的本地执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行。</a:t>
            </a:r>
          </a:p>
        </p:txBody>
      </p:sp>
      <p:sp>
        <p:nvSpPr>
          <p:cNvPr id="366" name="本提案拟保护的具体组合"/>
          <p:cNvSpPr txBox="1"/>
          <p:nvPr/>
        </p:nvSpPr>
        <p:spPr>
          <a:xfrm>
            <a:off x="552450" y="4371975"/>
            <a:ext cx="4333875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>
                <a:solidFill>
                  <a:srgbClr val="11111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 algn="l"/>
            <a:r>
              <a:t>本提案拟保护的具体组合</a:t>
            </a:r>
          </a:p>
        </p:txBody>
      </p:sp>
      <p:sp>
        <p:nvSpPr>
          <p:cNvPr id="367" name="以“独立真实路由与历史执行协同、驻留差分、自主复制、到达执行和有效提交"/>
          <p:cNvSpPr txBox="1"/>
          <p:nvPr/>
        </p:nvSpPr>
        <p:spPr>
          <a:xfrm>
            <a:off x="552450" y="4772025"/>
            <a:ext cx="4333875" cy="781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以“独立真实路由与历史执行协同、驻留差分、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自主复制、到达执行和有效提交”的连接关系组</a:t>
            </a:r>
          </a:p>
          <a:p>
            <a:pPr algn="l">
              <a:defRPr sz="1500">
                <a:solidFill>
                  <a:srgbClr val="333333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t>织装置保护。</a:t>
            </a:r>
          </a:p>
        </p:txBody>
      </p:sp>
      <p:pic>
        <p:nvPicPr>
          <p:cNvPr id="368" name="patent_fig_v10_17_0.png" descr="patent_fig_v10_1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747" y="1419225"/>
            <a:ext cx="3066132" cy="4438650"/>
          </a:xfrm>
          <a:prstGeom prst="rect">
            <a:avLst/>
          </a:prstGeom>
          <a:ln w="12700">
            <a:miter lim="400000"/>
          </a:ln>
        </p:spPr>
      </p:pic>
      <p:sp>
        <p:nvSpPr>
          <p:cNvPr id="369" name="原文图 1：通用计算环境结构"/>
          <p:cNvSpPr txBox="1"/>
          <p:nvPr/>
        </p:nvSpPr>
        <p:spPr>
          <a:xfrm>
            <a:off x="5238750" y="5915025"/>
            <a:ext cx="6334125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1200">
                <a:solidFill>
                  <a:srgbClr val="555555"/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lvl1pPr>
          </a:lstStyle>
          <a:p>
            <a:pPr algn="l"/>
            <a:r>
              <a:t>原文图 1：通用计算环境结构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2841</Words>
  <Application>Microsoft Macintosh PowerPoint</Application>
  <PresentationFormat>宽屏</PresentationFormat>
  <Paragraphs>374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冬青黑体简体中文 W3</vt:lpstr>
      <vt:lpstr>冬青黑体简体中文 W6</vt:lpstr>
      <vt:lpstr>Hiragino Sans GB</vt:lpstr>
      <vt:lpstr>Aptos</vt:lpstr>
      <vt:lpstr>Arial</vt:lpstr>
      <vt:lpstr>Helvetica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Frandium</cp:lastModifiedBy>
  <cp:revision>8</cp:revision>
  <dcterms:modified xsi:type="dcterms:W3CDTF">2026-10-21T07:22:09Z</dcterms:modified>
</cp:coreProperties>
</file>