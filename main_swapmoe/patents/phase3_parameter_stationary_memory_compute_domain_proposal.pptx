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26da50496e4e57" /><Relationship Type="http://schemas.openxmlformats.org/officeDocument/2006/relationships/extended-properties" Target="/docProps/app.xml" Id="R8a8c1a4e71624092" /><Relationship Type="http://schemas.openxmlformats.org/officeDocument/2006/relationships/officeDocument" Target="/ppt/presentation.xml" Id="Rfa9987b328414d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4aee062ba244f8"/>
  </p:sldMasterIdLst>
  <p:notesMasterIdLst>
    <p:notesMasterId xmlns:r="http://schemas.openxmlformats.org/officeDocument/2006/relationships" r:id="Rca5c7d277cda40d2"/>
  </p:notesMasterIdLst>
  <p:sldIdLst>
    <p:sldId xmlns:r="http://schemas.openxmlformats.org/officeDocument/2006/relationships" id="256" r:id="R3708aea57f2c4e1c"/>
    <p:sldId xmlns:r="http://schemas.openxmlformats.org/officeDocument/2006/relationships" id="257" r:id="R706b86be3a744086"/>
    <p:sldId xmlns:r="http://schemas.openxmlformats.org/officeDocument/2006/relationships" id="258" r:id="R871538a290804659"/>
    <p:sldId xmlns:r="http://schemas.openxmlformats.org/officeDocument/2006/relationships" id="259" r:id="R73b9cf21ee274729"/>
    <p:sldId xmlns:r="http://schemas.openxmlformats.org/officeDocument/2006/relationships" id="260" r:id="Re8cf62c49c644d15"/>
    <p:sldId xmlns:r="http://schemas.openxmlformats.org/officeDocument/2006/relationships" id="261" r:id="R174a57287cb44dc6"/>
    <p:sldId xmlns:r="http://schemas.openxmlformats.org/officeDocument/2006/relationships" id="262" r:id="Rc1c2139b53544fe3"/>
    <p:sldId xmlns:r="http://schemas.openxmlformats.org/officeDocument/2006/relationships" id="263" r:id="Ra27e834d86be4053"/>
    <p:sldId xmlns:r="http://schemas.openxmlformats.org/officeDocument/2006/relationships" id="264" r:id="R176bfcc45a2b4298"/>
    <p:sldId xmlns:r="http://schemas.openxmlformats.org/officeDocument/2006/relationships" id="265" r:id="R07d53104270c4e1d"/>
    <p:sldId xmlns:r="http://schemas.openxmlformats.org/officeDocument/2006/relationships" id="266" r:id="Rd7ea2a92514b45ff"/>
    <p:sldId xmlns:r="http://schemas.openxmlformats.org/officeDocument/2006/relationships" id="267" r:id="Re3c1d248229a4ff0"/>
    <p:sldId xmlns:r="http://schemas.openxmlformats.org/officeDocument/2006/relationships" id="268" r:id="Re90881ec39f34d16"/>
    <p:sldId xmlns:r="http://schemas.openxmlformats.org/officeDocument/2006/relationships" id="269" r:id="R1296f8782d3f44d5"/>
    <p:sldId xmlns:r="http://schemas.openxmlformats.org/officeDocument/2006/relationships" id="270" r:id="R1ee2a5183f4f4306"/>
    <p:sldId xmlns:r="http://schemas.openxmlformats.org/officeDocument/2006/relationships" id="271" r:id="R1990a77d8f304c44"/>
    <p:sldId xmlns:r="http://schemas.openxmlformats.org/officeDocument/2006/relationships" id="272" r:id="R9a56066f61594ba0"/>
    <p:sldId xmlns:r="http://schemas.openxmlformats.org/officeDocument/2006/relationships" id="273" r:id="R3c8a93502c184b8f"/>
    <p:sldId xmlns:r="http://schemas.openxmlformats.org/officeDocument/2006/relationships" id="274" r:id="R5c1bef422f664d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1a9341eca048d0" /><Relationship Type="http://schemas.openxmlformats.org/officeDocument/2006/relationships/slideMaster" Target="/ppt/slideMasters/slideMaster1.xml" Id="R014aee062ba244f8" /><Relationship Type="http://schemas.openxmlformats.org/officeDocument/2006/relationships/notesMaster" Target="/ppt/notesMasters/notesMaster1.xml" Id="Rca5c7d277cda40d2" /><Relationship Type="http://schemas.openxmlformats.org/officeDocument/2006/relationships/presProps" Target="/ppt/presProps.xml" Id="Rbc05974ba35a401b" /><Relationship Type="http://schemas.openxmlformats.org/officeDocument/2006/relationships/viewProps" Target="/ppt/viewProps.xml" Id="R17bebf65dc5a42ec" /><Relationship Type="http://schemas.openxmlformats.org/officeDocument/2006/relationships/tableStyles" Target="/ppt/tableStyles.xml" Id="R0060a13d82d642aa" /><Relationship Type="http://schemas.openxmlformats.org/officeDocument/2006/relationships/slide" Target="/ppt/slides/slide1.xml" Id="R3708aea57f2c4e1c" /><Relationship Type="http://schemas.openxmlformats.org/officeDocument/2006/relationships/slide" Target="/ppt/slides/slide2.xml" Id="R706b86be3a744086" /><Relationship Type="http://schemas.openxmlformats.org/officeDocument/2006/relationships/slide" Target="/ppt/slides/slide3.xml" Id="R871538a290804659" /><Relationship Type="http://schemas.openxmlformats.org/officeDocument/2006/relationships/slide" Target="/ppt/slides/slide4.xml" Id="R73b9cf21ee274729" /><Relationship Type="http://schemas.openxmlformats.org/officeDocument/2006/relationships/slide" Target="/ppt/slides/slide5.xml" Id="Re8cf62c49c644d15" /><Relationship Type="http://schemas.openxmlformats.org/officeDocument/2006/relationships/slide" Target="/ppt/slides/slide6.xml" Id="R174a57287cb44dc6" /><Relationship Type="http://schemas.openxmlformats.org/officeDocument/2006/relationships/slide" Target="/ppt/slides/slide7.xml" Id="Rc1c2139b53544fe3" /><Relationship Type="http://schemas.openxmlformats.org/officeDocument/2006/relationships/slide" Target="/ppt/slides/slide8.xml" Id="Ra27e834d86be4053" /><Relationship Type="http://schemas.openxmlformats.org/officeDocument/2006/relationships/slide" Target="/ppt/slides/slide9.xml" Id="R176bfcc45a2b4298" /><Relationship Type="http://schemas.openxmlformats.org/officeDocument/2006/relationships/slide" Target="/ppt/slides/slide10.xml" Id="R07d53104270c4e1d" /><Relationship Type="http://schemas.openxmlformats.org/officeDocument/2006/relationships/slide" Target="/ppt/slides/slide11.xml" Id="Rd7ea2a92514b45ff" /><Relationship Type="http://schemas.openxmlformats.org/officeDocument/2006/relationships/slide" Target="/ppt/slides/slide12.xml" Id="Re3c1d248229a4ff0" /><Relationship Type="http://schemas.openxmlformats.org/officeDocument/2006/relationships/slide" Target="/ppt/slides/slide13.xml" Id="Re90881ec39f34d16" /><Relationship Type="http://schemas.openxmlformats.org/officeDocument/2006/relationships/slide" Target="/ppt/slides/slide14.xml" Id="R1296f8782d3f44d5" /><Relationship Type="http://schemas.openxmlformats.org/officeDocument/2006/relationships/slide" Target="/ppt/slides/slide15.xml" Id="R1ee2a5183f4f4306" /><Relationship Type="http://schemas.openxmlformats.org/officeDocument/2006/relationships/slide" Target="/ppt/slides/slide16.xml" Id="R1990a77d8f304c44" /><Relationship Type="http://schemas.openxmlformats.org/officeDocument/2006/relationships/slide" Target="/ppt/slides/slide17.xml" Id="R9a56066f61594ba0" /><Relationship Type="http://schemas.openxmlformats.org/officeDocument/2006/relationships/slide" Target="/ppt/slides/slide18.xml" Id="R3c8a93502c184b8f" /><Relationship Type="http://schemas.openxmlformats.org/officeDocument/2006/relationships/slide" Target="/ppt/slides/slide19.xml" Id="R5c1bef422f664d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943dde320248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db619a1ae94d78" /><Relationship Type="http://schemas.openxmlformats.org/officeDocument/2006/relationships/notesMaster" Target="/ppt/notesMasters/notesMaster1.xml" Id="R819b80e59e1c45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8eb2bc9c734e1c" /><Relationship Type="http://schemas.openxmlformats.org/officeDocument/2006/relationships/notesMaster" Target="/ppt/notesMasters/notesMaster1.xml" Id="R238d7f00e5384a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9bcd23295141af" /><Relationship Type="http://schemas.openxmlformats.org/officeDocument/2006/relationships/notesMaster" Target="/ppt/notesMasters/notesMaster1.xml" Id="R5b79f85b8cbf43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0fb0269e134309" /><Relationship Type="http://schemas.openxmlformats.org/officeDocument/2006/relationships/notesMaster" Target="/ppt/notesMasters/notesMaster1.xml" Id="Rba83033a01e24f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b043e29aad4720" /><Relationship Type="http://schemas.openxmlformats.org/officeDocument/2006/relationships/notesMaster" Target="/ppt/notesMasters/notesMaster1.xml" Id="R5675af57a9ea49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ad48e2156b4840" /><Relationship Type="http://schemas.openxmlformats.org/officeDocument/2006/relationships/notesMaster" Target="/ppt/notesMasters/notesMaster1.xml" Id="R0321bb89b0184b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87f6ed22ba4293" /><Relationship Type="http://schemas.openxmlformats.org/officeDocument/2006/relationships/notesMaster" Target="/ppt/notesMasters/notesMaster1.xml" Id="R2074d14e5e6e4e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5c9418d06a483e" /><Relationship Type="http://schemas.openxmlformats.org/officeDocument/2006/relationships/notesMaster" Target="/ppt/notesMasters/notesMaster1.xml" Id="R26bcd410e5f04e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8e7fbc78ed4fbe" /><Relationship Type="http://schemas.openxmlformats.org/officeDocument/2006/relationships/notesMaster" Target="/ppt/notesMasters/notesMaster1.xml" Id="Rb721259ea07b44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449ad490bc403a" /><Relationship Type="http://schemas.openxmlformats.org/officeDocument/2006/relationships/notesMaster" Target="/ppt/notesMasters/notesMaster1.xml" Id="R436485b73fb949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9e92098917415b" /><Relationship Type="http://schemas.openxmlformats.org/officeDocument/2006/relationships/notesMaster" Target="/ppt/notesMasters/notesMaster1.xml" Id="Rd47f86e98e9647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7856116df146e8" /><Relationship Type="http://schemas.openxmlformats.org/officeDocument/2006/relationships/notesMaster" Target="/ppt/notesMasters/notesMaster1.xml" Id="R43b8f9e13c8a45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181a11348141f3" /><Relationship Type="http://schemas.openxmlformats.org/officeDocument/2006/relationships/notesMaster" Target="/ppt/notesMasters/notesMaster1.xml" Id="Rc7fd0b345dc14d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b2ac9049974854" /><Relationship Type="http://schemas.openxmlformats.org/officeDocument/2006/relationships/notesMaster" Target="/ppt/notesMasters/notesMaster1.xml" Id="Rcc7fa0cb1e0641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16928d484e4508" /><Relationship Type="http://schemas.openxmlformats.org/officeDocument/2006/relationships/notesMaster" Target="/ppt/notesMasters/notesMaster1.xml" Id="R035c6ac6540d40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6f27769e6d488b" /><Relationship Type="http://schemas.openxmlformats.org/officeDocument/2006/relationships/notesMaster" Target="/ppt/notesMasters/notesMaster1.xml" Id="Re978b102a58f4e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d7bc76bb1e4928" /><Relationship Type="http://schemas.openxmlformats.org/officeDocument/2006/relationships/notesMaster" Target="/ppt/notesMasters/notesMaster1.xml" Id="R61c588aa842349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eed84bdc584136" /><Relationship Type="http://schemas.openxmlformats.org/officeDocument/2006/relationships/notesMaster" Target="/ppt/notesMasters/notesMaster1.xml" Id="R6adb5a91fcac452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e67c3b11684e14" /><Relationship Type="http://schemas.openxmlformats.org/officeDocument/2006/relationships/notesMaster" Target="/ppt/notesMasters/notesMaster1.xml" Id="R65f1228018f140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第三阶段专利提案。</a:t>
            </a:r>
          </a:p>
          <a:p xmlns:a="http://schemas.openxmlformats.org/drawingml/2006/main">
            <a:r>
              <a:t>核心链条：连续路由预测 → expert-object 寻址 → 候选驱动的介质预激活/分级预读 → 真实路由提交。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动机页先限定端侧 batch-1 MoE 解码，不引入 CPU offload。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https://www.nvidia.com/en-us/autonomous-machines/embedded-systems/jetson-thor/</a:t>
            </a:r>
          </a:p>
          <a:p xmlns:a="http://schemas.openxmlformats.org/drawingml/2006/main">
            <a:r>
              <a:t>- https://developer.nvidia.com/blog/nvidia-grace-cpu-superchip-architecture-in-depth/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三张图均为厂商官方技术文档中的架构示意图。</a:t>
            </a:r>
          </a:p>
          <a:p xmlns:a="http://schemas.openxmlformats.org/drawingml/2006/main">
            <a:r>
              <a:t>本页只总结主流结构的共同抽象，不声称三类产品具有完全相同的物理实现。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https://developer.nvidia.com/blog/nvidia-hopper-architecture-in-depth/</a:t>
            </a:r>
          </a:p>
          <a:p xmlns:a="http://schemas.openxmlformats.org/drawingml/2006/main">
            <a:r>
              <a:t>- https://docs.cloud.google.com/tpu/docs/v4</a:t>
            </a:r>
          </a:p>
          <a:p xmlns:a="http://schemas.openxmlformats.org/drawingml/2006/main">
            <a:r>
              <a:t>- https://www.hiascend.com/document/detail/en/canncommercial/850/opdevg/Ascendcopdevg/atlas_ascendc_10_0008.html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92.70% 为 Attention-Mean Routing stay probability。</a:t>
            </a:r>
          </a:p>
          <a:p xmlns:a="http://schemas.openxmlformats.org/drawingml/2006/main">
            <a:r>
              <a:t>Next-token Recall@1 约 52%，Recall@4 约 86%–87%，来自项目 M/L 两种尺度预测实验。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/Users/frandium/Desktop/kv_cache/main_swapmoe/docs/moe_0814.md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左图是全容量低速端侧基线；右图是本发明逻辑结构。</a:t>
            </a:r>
          </a:p>
          <a:p xmlns:a="http://schemas.openxmlformats.org/drawingml/2006/main">
            <a:r>
              <a:t>两类存储均通过控制器和互连向共享计算阵列供数，不与单个计算核心一一配对。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候选预测的算法来源是 Attention-Mean Routing：对最近多个 token 的 attention output 做因果聚合，再得到下一 token 的候选 expert。</a:t>
            </a:r>
          </a:p>
          <a:p xmlns:a="http://schemas.openxmlformats.org/drawingml/2006/main">
            <a:r>
              <a:t>图中不使用自定义命令名。</a:t>
            </a:r>
          </a:p>
          <a:p xmlns:a="http://schemas.openxmlformats.org/drawingml/2006/main">
            <a:r>
              <a:t>容量层未命中时可直接向计算阵列供数，也可经高速层中转；本方法中容量层只承担约 3%–4.5% 的读取字节，且该方法仍有进一步优化空间，故中转附加时延相对端到端时延可忽略，性能模型按直接供数计算。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- /Users/frandium/Desktop/kv_cache/main_swapmoe/docs/moe_0814.md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候选不等于全部完整预取；预取深度由预测置信度与带宽预算共同决定。</a:t>
            </a:r>
          </a:p>
          <a:p xmlns:a="http://schemas.openxmlformats.org/drawingml/2006/main">
            <a:r>
              <a:t>下一 token 的真实路由仍是最终决定。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严格按参考页型组织为四个保护点：粗体名称后接非粗体详细说明。</a:t>
            </a:r>
          </a:p>
          <a:p xmlns:a="http://schemas.openxmlformats.org/drawingml/2006/main">
            <a:r>
              <a:t>四点分别覆盖硬件结构、算法驱动、对象存储和闭环时序。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本页只给结论，参数来源和计算过程分别在下一页和下下页。</a:t>
            </a:r>
          </a:p>
          <a:p xmlns:a="http://schemas.openxmlformats.org/drawingml/2006/main">
            <a:r>
              <a:t>成本仅指相关内存子系统，不等同于整机制造成本。</a:t>
            </a:r>
          </a:p>
          <a:p xmlns:a="http://schemas.openxmlformats.org/drawingml/2006/main">
            <a:r>
              <a:t>"全低速存储"即端侧产品基线：完整模型全部位于 273 GB/s 容量型内存，以 Jetson Thor 等面向机器人与边缘计算的高端模组为代表；"全高速存储"为性能上限：完整模型全部位于 1.5 TB/s 高速存储。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RNGD 为 150 W 推理卡，因此这里只证明 1.5 TB/s 工程可实现性，不证明约 12 GB 的标准颗粒已经存在。</a:t>
            </a:r>
          </a:p>
          <a:p xmlns:a="http://schemas.openxmlformats.org/drawingml/2006/main">
            <a:r>
              <a:t>Grace 的 &gt;3x 是系统级每 GB 成本比较，不是当前采购报价。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https://developer.furiosa.ai/latest/en/overview/rngd.html</a:t>
            </a:r>
          </a:p>
          <a:p xmlns:a="http://schemas.openxmlformats.org/drawingml/2006/main">
            <a:r>
              <a:t>- https://www.nvidia.com/en-us/autonomous-machines/embedded-systems/jetson-thor/</a:t>
            </a:r>
          </a:p>
          <a:p xmlns:a="http://schemas.openxmlformats.org/drawingml/2006/main">
            <a:r>
              <a:t>- https://developer.nvidia.com/blog/nvidia-grace-cpu-superchip-architecture-in-depth/</a:t>
            </a:r>
          </a:p>
          <a:p xmlns:a="http://schemas.openxmlformats.org/drawingml/2006/main">
            <a:r>
              <a:t>- https://huggingface.co/Qwen/Qwen3-30B-A3B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ρ=95.49% 对应 4K，ρ=96.95% 对应 32K。</a:t>
            </a:r>
          </a:p>
          <a:p xmlns:a="http://schemas.openxmlformats.org/drawingml/2006/main">
            <a:r>
              <a:t>结果未计入候选预激活带来的启动时延降低，也未计入误读流量。</a:t>
            </a:r>
          </a:p>
          <a:p xmlns:a="http://schemas.openxmlformats.org/drawingml/2006/main">
            <a:r>
              <a:t>成本不是 GPU/NPU 整机成本。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https://developer.nvidia.com/blog/nvidia-grace-cpu-superchip-architecture-in-depth/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六个小标题严格保留参考 PPT 原文，包括其中的用词和标点；仅补充本专利对应说明。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表述与参考页保持四类证据结构，并补充本专利可实际观察的位置、行为和时序。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严格按参考稿先列四个可规避点，再列四个上位保护建议，不再交叉排列。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检索式采用专利数据库常用的布尔逻辑、短语引号、括号和邻近算符，不再使用斜杠关键词清单。</a:t>
            </a:r>
          </a:p>
          <a:p xmlns:a="http://schemas.openxmlformats.org/drawingml/2006/main">
            <a:r>
              <a:t>不同数据库的邻近算符语法需要由代理人按平台调整。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https://patents.google.com/</a:t>
            </a:r>
          </a:p>
          <a:p xmlns:a="http://schemas.openxmlformats.org/drawingml/2006/main">
            <a:r>
              <a:t>- https://patentscope.wipo.int/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表中公开日按 Google Patents 页面整理。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https://patents.google.com/patent/US20250356164A1/en</a:t>
            </a:r>
          </a:p>
          <a:p xmlns:a="http://schemas.openxmlformats.org/drawingml/2006/main">
            <a:r>
              <a:t>- https://patents.google.com/patent/US11893502B2/en</a:t>
            </a:r>
          </a:p>
          <a:p xmlns:a="http://schemas.openxmlformats.org/drawingml/2006/main">
            <a:r>
              <a:t>- https://patents.google.com/patent/US20240086682A1/en</a:t>
            </a:r>
          </a:p>
          <a:p xmlns:a="http://schemas.openxmlformats.org/drawingml/2006/main">
            <a:r>
              <a:t>- https://patents.google.com/patent/US20250190755A1/en</a:t>
            </a:r>
          </a:p>
          <a:p xmlns:a="http://schemas.openxmlformats.org/drawingml/2006/main">
            <a:r>
              <a:t>- https://patents.google.com/patent/US20210398597A1/en</a:t>
            </a:r>
          </a:p>
          <a:p xmlns:a="http://schemas.openxmlformats.org/drawingml/2006/main">
            <a:r>
              <a:t>- https://patents.google.com/patent/US11983619B2/en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右图来自 US11893502B2 专利附图。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https://patents.google.com/patent/US11893502B2/en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右图来自 US20240086682A1 专利附图。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https://patents.google.com/patent/US20240086682A1/en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右图来自 US20210398597A1 专利附图。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https://patents.google.com/patent/US20210398597A1/en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d8214434845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ccf38245f40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f25648a1a48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436a42a8144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194db9d8940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130e664e1441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f11e667c1469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6569634194b7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9cb5e557549b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4cc3c3241425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159de4e084285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FB52542-570A-C806-0C85-B7A90D47331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5D24494-97ED-7749-9BB9-BA5C048907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840A5C4-10A3-B8EA-9A2A-0AE6F37762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C4A3D1D-7588-1CA3-5563-01A807BD4C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0C3208E-7051-D744-3521-7CF416BBAB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9230FC-4354-482B-7186-3768BDA6CE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77D4BA9-3A14-62C6-580C-F5AE7E4F84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9DEB7AF-FB8E-43FC-AFF7-6426F1A835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845FB5D-3689-D700-6878-06B3F8D255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F20B96-43A4-23B2-0D36-D8D4E96E03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A46044-DD52-CC2C-6FD9-836A09B13F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6CACD2B-329F-2139-42D5-1F295252DE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A6481F5-EEB9-48A1-870F-F98BC746D2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65948CB-1290-B5FA-6342-7515321E6C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9F052CA-0592-1F5A-A724-95FB2C059C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D015CBD-DE5A-3E2A-CDB5-BCE23AD9C6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4DD367A-FF7B-05A2-B6C5-92A7AB0CEA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42C8359-4498-3485-68AA-A3EB8C950DC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09087F0-22D4-AAF7-86DD-B3E6FD646E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81DE66C-5821-AD32-0FE9-48AA56D791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9B2BF5C-33B0-6A19-6FD0-AE679A8B97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70DE705-19F7-2955-7D5E-32D80D7AEE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3D4AC3-098D-4E6A-D122-AA5AD3EE8A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7A39F21-2724-EEC9-CE67-059694F90AA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54E6148-CA8D-6045-2458-F5AB99B93DB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45E1853-4AF2-0144-0569-E816EEFE71D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8B7EFDC-BEFC-844D-DE56-2E59929747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6B3A34F-7590-C330-C3F8-390A7ECD09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5260756F-EA43-0FE2-FFC1-50FE1B45A8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8242B0-5E11-DB5A-3DD6-830307A808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3388364-1FB2-558A-9E81-C005A7D9DF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361C126-3E67-F720-6080-BA56BFAEA3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104F26E-B76F-E028-9B12-ADAF1C3928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77046FB-623A-9694-616F-3F8F15E728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24DD160-4A28-E4AD-ACAF-4F0FB1B3E6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A92D66B-BEDD-117F-8BA5-4BC727E970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EE678B-696D-97A8-66FD-850ED44C62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034396D-5EBF-F2D2-291C-8FBFC1B7355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6A1151B-F35F-EA6F-F100-BCB45F3345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DDEC2BE-8113-821F-43AB-FC23D8DE6C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85F570A-916E-D0C2-B12F-15BE29D96E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B12C6FA-D4D9-4269-E525-1A205D6F2D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8472067-8522-299F-F573-0B16AA3FCC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37132CD8-3124-0DDB-60A7-307CD958ABE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AC796CE-E706-F816-C0C4-2AFFA1D4EC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CA8C67A-70BF-F368-09F6-24FC1185A6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8CEEA9-5153-8F39-23DD-C84D352332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9798B34-4943-E014-EE18-14CACB6706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7187000-EFF0-A431-A861-4D48DB2461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26F0DC6-EEB1-19C0-F1F9-29C30803EF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463A20F-8C2A-2365-1025-DD34ABC566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DE806FA-9ED3-7000-E611-39988BFA49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2174C5B-9B00-4B28-A8EB-2E834D9623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6A17809-FEB9-4A3F-7BC0-306F59B612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B5DE3CD-DC36-2639-BCED-D58799E23C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946EA4E-B86C-0EDB-7C2A-8C3678B084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BD17E4D-94B2-1391-C0A4-B1FAB1305F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984032B-35E6-8754-FC90-94097B8726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7eb8500f84486d" /><Relationship Type="http://schemas.openxmlformats.org/officeDocument/2006/relationships/slideLayout" Target="/ppt/slideLayouts/slideLayout1.xml" Id="R63995f7027794a9d" /><Relationship Type="http://schemas.openxmlformats.org/officeDocument/2006/relationships/slideLayout" Target="/ppt/slideLayouts/slideLayout2.xml" Id="R38c6eaf529b944bc" /><Relationship Type="http://schemas.openxmlformats.org/officeDocument/2006/relationships/slideLayout" Target="/ppt/slideLayouts/slideLayout3.xml" Id="R0805b1af3e454b56" /><Relationship Type="http://schemas.openxmlformats.org/officeDocument/2006/relationships/slideLayout" Target="/ppt/slideLayouts/slideLayout4.xml" Id="Rc00ad5055cc84513" /><Relationship Type="http://schemas.openxmlformats.org/officeDocument/2006/relationships/slideLayout" Target="/ppt/slideLayouts/slideLayout5.xml" Id="Rfc8e73befde148e8" /><Relationship Type="http://schemas.openxmlformats.org/officeDocument/2006/relationships/slideLayout" Target="/ppt/slideLayouts/slideLayout6.xml" Id="R227d4aa6db6a421a" /><Relationship Type="http://schemas.openxmlformats.org/officeDocument/2006/relationships/slideLayout" Target="/ppt/slideLayouts/slideLayout7.xml" Id="R48cb97fc67f34ed0" /><Relationship Type="http://schemas.openxmlformats.org/officeDocument/2006/relationships/slideLayout" Target="/ppt/slideLayouts/slideLayout8.xml" Id="R88f47f68510c4662" /><Relationship Type="http://schemas.openxmlformats.org/officeDocument/2006/relationships/slideLayout" Target="/ppt/slideLayouts/slideLayout9.xml" Id="R74b965887f87471d" /><Relationship Type="http://schemas.openxmlformats.org/officeDocument/2006/relationships/slideLayout" Target="/ppt/slideLayouts/slideLayout10.xml" Id="R468c5e195e5a4b1f" /><Relationship Type="http://schemas.openxmlformats.org/officeDocument/2006/relationships/slideLayout" Target="/ppt/slideLayouts/slideLayout11.xml" Id="R44bbe3fd26a648b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89651D1-13FA-9066-D240-3A6ADC9651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296DB6A-7EE2-97F3-9C7E-10FC22BA4C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F0B22B4-BC28-DFDD-EC62-7130A7DF56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A83940C-1578-48C7-9A2E-4CEF536BC4C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F9861B2-EEDE-D4B4-FF8B-DC69ABE650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995f7027794a9d"/>
    <p:sldLayoutId xmlns:r="http://schemas.openxmlformats.org/officeDocument/2006/relationships" id="2147483650" r:id="R38c6eaf529b944bc"/>
    <p:sldLayoutId xmlns:r="http://schemas.openxmlformats.org/officeDocument/2006/relationships" id="2147483651" r:id="R0805b1af3e454b56"/>
    <p:sldLayoutId xmlns:r="http://schemas.openxmlformats.org/officeDocument/2006/relationships" id="2147483652" r:id="Rc00ad5055cc84513"/>
    <p:sldLayoutId xmlns:r="http://schemas.openxmlformats.org/officeDocument/2006/relationships" id="2147483653" r:id="Rfc8e73befde148e8"/>
    <p:sldLayoutId xmlns:r="http://schemas.openxmlformats.org/officeDocument/2006/relationships" id="2147483654" r:id="R227d4aa6db6a421a"/>
    <p:sldLayoutId xmlns:r="http://schemas.openxmlformats.org/officeDocument/2006/relationships" id="2147483655" r:id="R48cb97fc67f34ed0"/>
    <p:sldLayoutId xmlns:r="http://schemas.openxmlformats.org/officeDocument/2006/relationships" id="2147483656" r:id="R88f47f68510c4662"/>
    <p:sldLayoutId xmlns:r="http://schemas.openxmlformats.org/officeDocument/2006/relationships" id="2147483657" r:id="R74b965887f87471d"/>
    <p:sldLayoutId xmlns:r="http://schemas.openxmlformats.org/officeDocument/2006/relationships" id="2147483658" r:id="R468c5e195e5a4b1f"/>
    <p:sldLayoutId xmlns:r="http://schemas.openxmlformats.org/officeDocument/2006/relationships" id="2147483659" r:id="R44bbe3fd26a648b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768ad57ce4351" /><Relationship Type="http://schemas.openxmlformats.org/officeDocument/2006/relationships/notesSlide" Target="/ppt/notesSlides/notesSlide1.xml" Id="Rcc51f724a33848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fcb7f13b894b4d" /><Relationship Type="http://schemas.openxmlformats.org/officeDocument/2006/relationships/notesSlide" Target="/ppt/notesSlides/notesSlide2.xml" Id="R16e64eef004a4f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9d4fc703014be2" /><Relationship Type="http://schemas.openxmlformats.org/officeDocument/2006/relationships/image" Target="/ppt/media/image.png" Id="Rb3b8286cefdb4972" /><Relationship Type="http://schemas.openxmlformats.org/officeDocument/2006/relationships/image" Target="/ppt/media/image2.png" Id="R4f8acb9ee3b14a57" /><Relationship Type="http://schemas.openxmlformats.org/officeDocument/2006/relationships/image" Target="/ppt/media/image3.png" Id="R90beba0aac1a428e" /><Relationship Type="http://schemas.openxmlformats.org/officeDocument/2006/relationships/notesSlide" Target="/ppt/notesSlides/notesSlide3.xml" Id="R29aa20f27c124c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502800c81b4e5a" /><Relationship Type="http://schemas.openxmlformats.org/officeDocument/2006/relationships/notesSlide" Target="/ppt/notesSlides/notesSlide4.xml" Id="Rf03e2434fc1741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5bec0b565244ee" /><Relationship Type="http://schemas.openxmlformats.org/officeDocument/2006/relationships/notesSlide" Target="/ppt/notesSlides/notesSlide5.xml" Id="Re740e6a727fc45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de81193ff44a16" /><Relationship Type="http://schemas.openxmlformats.org/officeDocument/2006/relationships/notesSlide" Target="/ppt/notesSlides/notesSlide6.xml" Id="Rd8155810e51f47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02322fbf7240eb" /><Relationship Type="http://schemas.openxmlformats.org/officeDocument/2006/relationships/notesSlide" Target="/ppt/notesSlides/notesSlide7.xml" Id="R346e1cfb805d41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03d6b469794273" /><Relationship Type="http://schemas.openxmlformats.org/officeDocument/2006/relationships/notesSlide" Target="/ppt/notesSlides/notesSlide8.xml" Id="R9a1840dd8ee142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4536681b3d4cc9" /><Relationship Type="http://schemas.openxmlformats.org/officeDocument/2006/relationships/notesSlide" Target="/ppt/notesSlides/notesSlide9.xml" Id="Raeb23ac4cc9343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2bcd3685a24d3d" /><Relationship Type="http://schemas.openxmlformats.org/officeDocument/2006/relationships/notesSlide" Target="/ppt/notesSlides/notesSlide10.xml" Id="Rb65a17c297ed41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d3ab2fb27d4417" /><Relationship Type="http://schemas.openxmlformats.org/officeDocument/2006/relationships/notesSlide" Target="/ppt/notesSlides/notesSlide11.xml" Id="R3e1cb6eb0fcf46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7d1255ea604a53" /><Relationship Type="http://schemas.openxmlformats.org/officeDocument/2006/relationships/notesSlide" Target="/ppt/notesSlides/notesSlide12.xml" Id="R91f209b66df147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d8410197ae4466" /><Relationship Type="http://schemas.openxmlformats.org/officeDocument/2006/relationships/notesSlide" Target="/ppt/notesSlides/notesSlide13.xml" Id="Ra592a3fbc5ac48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bcebfdeebf4dee" /><Relationship Type="http://schemas.openxmlformats.org/officeDocument/2006/relationships/notesSlide" Target="/ppt/notesSlides/notesSlide14.xml" Id="Rfdb08dae268645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0603cbdcc34fbb" /><Relationship Type="http://schemas.openxmlformats.org/officeDocument/2006/relationships/notesSlide" Target="/ppt/notesSlides/notesSlide15.xml" Id="R0f2c47a8ad4c44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9667288ea3435c" /><Relationship Type="http://schemas.openxmlformats.org/officeDocument/2006/relationships/notesSlide" Target="/ppt/notesSlides/notesSlide16.xml" Id="R51a00fd92a5045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90eab4b9964da6" /><Relationship Type="http://schemas.openxmlformats.org/officeDocument/2006/relationships/image" Target="/ppt/media/image4.png" Id="Rd0b1761c72d2400b" /><Relationship Type="http://schemas.openxmlformats.org/officeDocument/2006/relationships/notesSlide" Target="/ppt/notesSlides/notesSlide17.xml" Id="R7646acc875e649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2a64d60ee34321" /><Relationship Type="http://schemas.openxmlformats.org/officeDocument/2006/relationships/image" Target="/ppt/media/image5.png" Id="R1b2be2f66750419d" /><Relationship Type="http://schemas.openxmlformats.org/officeDocument/2006/relationships/notesSlide" Target="/ppt/notesSlides/notesSlide18.xml" Id="R910d50ffd813465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e4194bbfca4e4d" /><Relationship Type="http://schemas.openxmlformats.org/officeDocument/2006/relationships/image" Target="/ppt/media/image6.png" Id="Ra8c6ddc4ced1469d" /><Relationship Type="http://schemas.openxmlformats.org/officeDocument/2006/relationships/notesSlide" Target="/ppt/notesSlides/notesSlide19.xml" Id="R7c721e12a35247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65F392-5158-9612-ED62-19131F626C3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基于连续路由预测与 Expert-Object 预激活的端侧 MoE 分层存储加速器、执行方法及芯片</a:t>
            </a:r>
          </a:p>
        </p:txBody>
      </p:sp>
    </p:spTree>
    <p:extLst>
      <p:ext uri="{BB962C8B-B14F-4D97-AF65-F5344CB8AC3E}">
        <p14:creationId xmlns:p14="http://schemas.microsoft.com/office/powerpoint/2010/main" val="27402538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188260C-CB11-84A3-69F8-C2E7979F49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发明背景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892872-1D12-4DEE-32A6-8C6022F80B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539551"/>
            <a:ext cx="10515600" cy="5452376"/>
          </a:xfrm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端侧手机、车机和个人电脑需要在 batch size = 1 下持续解码大规模 MoE 模型。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解码过程中，每个 token 只激活少量 expert，但完整模型参数仍需被设备存储；Attention、Dense、KV Cache 和近期活跃 expert 又会形成高频访问集合。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全容量高速存储能够缓解供数瓶颈，却带来高介质、封装与功耗成本；全容量 DDR/LPDDR 成本较低，但难以满足高频 working set 的带宽需求。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因此需要一类面向端侧推理、按访问流量分配存储带宽的专用加速器。</a:t>
            </a:r>
          </a:p>
        </p:txBody>
      </p:sp>
    </p:spTree>
    <p:extLst>
      <p:ext uri="{BB962C8B-B14F-4D97-AF65-F5344CB8AC3E}">
        <p14:creationId xmlns:p14="http://schemas.microsoft.com/office/powerpoint/2010/main" val="39527935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CB55994-2D4A-659E-AD87-7A3514F1D1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现有技术路径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8EC2F7-D3D6-CFD5-6F06-7B71D0B559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33500"/>
            <a:ext cx="10515600" cy="6096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GPU、NPU 与 TPU 的主流产品虽然计算阵列不同，但通常为设备配置同质的外部内存层；它们并未针对端侧 batch-1 MoE 的冷热 expert 分布，把容量和带宽分开配置。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8286cefdb4972"/>
          <a:stretch xmlns:a="http://schemas.openxmlformats.org/drawingml/2006/main"/>
        </p:blipFill>
        <p:spPr>
          <a:xfrm xmlns:a="http://schemas.openxmlformats.org/drawingml/2006/main">
            <a:off x="781050" y="2470595"/>
            <a:ext cx="3333750" cy="1488186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acb9ee3b14a57"/>
          <a:stretch xmlns:a="http://schemas.openxmlformats.org/drawingml/2006/main"/>
        </p:blipFill>
        <p:spPr>
          <a:xfrm xmlns:a="http://schemas.openxmlformats.org/drawingml/2006/main">
            <a:off x="4429125" y="2645938"/>
            <a:ext cx="3333750" cy="113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eba0aac1a428e"/>
          <a:stretch xmlns:a="http://schemas.openxmlformats.org/drawingml/2006/main"/>
        </p:blipFill>
        <p:spPr>
          <a:xfrm xmlns:a="http://schemas.openxmlformats.org/drawingml/2006/main">
            <a:off x="8095594" y="2190750"/>
            <a:ext cx="3296961" cy="2047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CF46A-1DC5-45B3-AE66-7F57DA75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823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33333"/>
                </a:solidFill>
              </a:defRPr>
            </a:pPr>
            <a:r>
              <a:rPr sz="1575" b="1">
                <a:solidFill>
                  <a:srgbClr val="333333"/>
                </a:solidFill>
              </a:rPr>
              <a:t>NVIDIA GH100 GPU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79A84-0795-4948-92F8-0BA5FD11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823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33333"/>
                </a:solidFill>
              </a:defRPr>
            </a:pPr>
            <a:r>
              <a:rPr sz="1575" b="1">
                <a:solidFill>
                  <a:srgbClr val="333333"/>
                </a:solidFill>
              </a:rPr>
              <a:t>Google TPU v4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03AB8-504B-46E6-9B07-1641E8DA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33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823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33333"/>
                </a:solidFill>
              </a:defRPr>
            </a:pPr>
            <a:r>
              <a:rPr sz="1575" b="1">
                <a:solidFill>
                  <a:srgbClr val="333333"/>
                </a:solidFill>
              </a:rPr>
              <a:t>Huawei Ascend NPU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1D979-2E6F-42C3-9F71-0538FFCE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大量 SM 分布于多个 GPC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共享片上 L2 与外部 HBM 控制器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B8DFE-68B6-4BC6-BD06-51859C75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863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两个 TensorCore 共享统一 HBM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每个核心包含 MXU、Vector 与 Scalar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BF7B9-D0D5-4D06-974D-E630B809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863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Global Memory 经 L2 和局部 Buffer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向 Cube / Vector 计算单元供数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45D9F-81F1-4223-BC74-B461D8F8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14288">
            <a:solidFill>
              <a:srgbClr val="66666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共同局限：存储规格按完整容量配置，尚未利用连续路由预测在真实路由前准备冷端 expert。</a:t>
            </a:r>
          </a:p>
        </p:txBody>
      </p:sp>
    </p:spTree>
    <p:extLst>
      <p:ext uri="{BB962C8B-B14F-4D97-AF65-F5344CB8AC3E}">
        <p14:creationId xmlns:p14="http://schemas.microsoft.com/office/powerpoint/2010/main" val="2980205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FD3B97-1FDE-6C7A-B6FB-4B4FAE109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本发明关键观察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4597D2D-DD11-DD1D-7F77-75D2026F9D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90260"/>
            <a:ext cx="10515600" cy="5102613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观察 1 · 时间局部性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Attention-Mean Routing 将 expert stay probability 提高至 92.70%，使少量 active expert slots 能跨 token 复用。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观察 2 · 下一 Token 可预测性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连续路由状态可预测下一 token 的 expert：项目实测 Recall@1 约 52%，Recall@4 约 86%–87%。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观察 3 · 容量层内容受限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容量层主要保存形状已知、推理期只读的 inactive experts，可按 (layer_id, expert_id) 组织为 expert objects。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因此，驱动可以在真实 miss 出现前，按候选置信度执行驻留保持、介质预激活、首块预读或完整预取。</a:t>
            </a:r>
          </a:p>
        </p:txBody>
      </p:sp>
    </p:spTree>
    <p:extLst>
      <p:ext uri="{BB962C8B-B14F-4D97-AF65-F5344CB8AC3E}">
        <p14:creationId xmlns:p14="http://schemas.microsoft.com/office/powerpoint/2010/main" val="989689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FD3B97-1FDE-6C7A-B6FB-4B4FAE109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本发明核心设计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4597D2D-DD11-DD1D-7F77-75D2026F9D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52550"/>
            <a:ext cx="10515600" cy="571500"/>
          </a:xfrm>
        </p:spPr>
        <p:txBody>
          <a:bodyPr xmlns:a="http://schemas.openxmlformats.org/drawingml/2006/main" anchor="t">
            <a:normAutofit fontScale="94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传统端侧基线为共享计算阵列配置一类大容量内存；本方案在同一加速器内把存储拆成小容量高速层和大容量低速层，两层共同向全部计算核心供数。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963C3-334D-442D-BF65-F167D326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81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333333"/>
                </a:solidFill>
              </a:defRPr>
            </a:pPr>
            <a:r>
              <a:rPr sz="1725" b="1">
                <a:solidFill>
                  <a:srgbClr val="333333"/>
                </a:solidFill>
              </a:rPr>
              <a:t>传统端侧基线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D0979-6762-4F67-8199-0A6CAF9D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81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333333"/>
                </a:solidFill>
              </a:defRPr>
            </a:pPr>
            <a:r>
              <a:rPr sz="1725" b="1">
                <a:solidFill>
                  <a:srgbClr val="333333"/>
                </a:solidFill>
              </a:rPr>
              <a:t>本发明结构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AE36F-68A6-41DE-B68A-4E581748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AA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6B8A9-21B6-4FCD-A222-BB309EFA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AA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F04AC-A108-4314-BBB2-3B55C985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889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</a:rPr>
              <a:t>GPU/NPU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10495-6234-4534-A122-A64AFB43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889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</a:rPr>
              <a:t>GPU/NPU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9D7D9-D4A3-4AB3-85EB-6068DE9A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14625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878"/>
          </a:solidFill>
          <a:ln xmlns:a="http://schemas.openxmlformats.org/drawingml/2006/main" w="14288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共享计算阵列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Attention · Router · Expert FFN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1C94C-C9CC-40E0-8495-37228432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14625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878"/>
          </a:solidFill>
          <a:ln xmlns:a="http://schemas.openxmlformats.org/drawingml/2006/main" w="14288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共享计算阵列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全部核心均可访问两类存储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B74BA-24B7-4CF1-85C8-CACDEE77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000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1EC"/>
          </a:solidFill>
          <a:ln xmlns:a="http://schemas.openxmlformats.org/drawingml/2006/main" w="14288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大容量低速层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Attention / KV / 全部 Experts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每个 token 均从同一内存供数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C3C1B-CBDB-4DBF-9D92-E9449391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1762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1EC"/>
          </a:solidFill>
          <a:ln xmlns:a="http://schemas.openxmlformats.org/drawingml/2006/main" w="14288">
            <a:solidFill>
              <a:srgbClr val="315B7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小容量高速层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Attention / KV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近期活跃 Experts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2B49F-92F5-4880-B657-5E0E0755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2333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5"/>
          </a:solidFill>
          <a:ln xmlns:a="http://schemas.openxmlformats.org/drawingml/2006/main" w="14288">
            <a:solidFill>
              <a:srgbClr val="55555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大容量低速层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按 (层号, Expert号)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保存未激活 Experts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86899-45CC-4C3F-8CEE-FE98840B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71875"/>
            <a:ext cx="8382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14288">
            <a:solidFill>
              <a:srgbClr val="60717C"/>
            </a:solidFill>
            <a:prstDash val="solid"/>
          </a:ln>
        </p:spPr>
        <p:txBody>
          <a:bodyPr xmlns:a="http://schemas.openxmlformats.org/drawingml/2006/main" anchor="ctr">
            <a:normAutofit fontScale="628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供数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DD982-A951-47F3-A63F-8FBFC00D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43300"/>
            <a:ext cx="666750" cy="2857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14288">
            <a:solidFill>
              <a:srgbClr val="60717C"/>
            </a:solidFill>
            <a:prstDash val="solid"/>
          </a:ln>
        </p:spPr>
        <p:txBody>
          <a:bodyPr xmlns:a="http://schemas.openxmlformats.org/drawingml/2006/main" anchor="ctr">
            <a:normAutofit fontScale="644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供数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8D535-1E37-496A-B6C7-AD8EC877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43300"/>
            <a:ext cx="666750" cy="2857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14288">
            <a:solidFill>
              <a:srgbClr val="60717C"/>
            </a:solidFill>
            <a:prstDash val="solid"/>
          </a:ln>
        </p:spPr>
        <p:txBody>
          <a:bodyPr xmlns:a="http://schemas.openxmlformats.org/drawingml/2006/main" anchor="ctr">
            <a:normAutofit fontScale="644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供数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061B3-5A43-4CA0-BE94-E46DAF50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149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0717C"/>
            </a:solidFill>
            <a:prstDash val="solid"/>
          </a:ln>
        </p:spPr>
        <p:txBody>
          <a:bodyPr xmlns:a="http://schemas.openxmlformats.org/drawingml/2006/main" anchor="ctr">
            <a:normAutofit fontScale="946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连续路由预测：提前准备下一候选 Expert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C3DFD-6003-4767-81BA-104FE837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78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关键变化：不是给某一块存储绑定少量计算核心，而是让高速、低速两类存储都服务同一个共享计算阵列。</a:t>
            </a:r>
          </a:p>
        </p:txBody>
      </p:sp>
    </p:spTree>
    <p:extLst>
      <p:ext uri="{BB962C8B-B14F-4D97-AF65-F5344CB8AC3E}">
        <p14:creationId xmlns:p14="http://schemas.microsoft.com/office/powerpoint/2010/main" val="989689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FD3B97-1FDE-6C7A-B6FB-4B4FAE109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实施例（阶段 1–2）：当前路由与 Expert 查找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4597D2D-DD11-DD1D-7F77-75D2026F9D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52550"/>
            <a:ext cx="10515600" cy="52387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以下以一个 token 在一层 Transformer 中的执行为例，只描述评审需要理解的数据流。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58256-6C7E-40B9-9D21-81DAA755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286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14288">
            <a:solidFill>
              <a:srgbClr val="444444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阶段 1  计算 Attention 与当前路由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① 当前 token 完成 Attention 计算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② 新产生的 K、V 写入高速存储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③ Router 给出本 token 需要的 Expert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④ 最近若干 token 的 Attention 输出取因果均值，再通过同一 Router，得到下一 token 的候选 Expert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A3A2D-2BCF-49E6-9D34-875D8B9F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11430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14288">
            <a:solidFill>
              <a:srgbClr val="60717C"/>
            </a:solidFill>
            <a:prstDash val="solid"/>
          </a:ln>
        </p:spPr>
        <p:txBody>
          <a:bodyPr xmlns:a="http://schemas.openxmlformats.org/drawingml/2006/main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下一步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42C62-DA64-469A-B037-85BFB001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4476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14288">
            <a:solidFill>
              <a:srgbClr val="315B72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阶段 2  查找当前 Expert 权重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高速层命中：权重直接送入共享计算阵列。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高速层未命中：控制器按照“层号 + Expert号”在低速层定位完整 Expert，直接送入计算阵列，或先读入高速层再计算。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低速层不再按虚拟页逐页理解模型，而是把一个 Expert 作为可独立寻址的数据对象。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26DFE-7B7E-4D19-86C7-E508DB5F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444444"/>
                </a:solidFill>
              </a:defRPr>
            </a:pPr>
            <a:r>
              <a:rPr sz="1425" b="1">
                <a:solidFill>
                  <a:srgbClr val="444444"/>
                </a:solidFill>
              </a:rPr>
              <a:t>当前 token 的 hidden state 始终很小；真正需要管理和搬运的是被选中的 Expert 权重。</a:t>
            </a:r>
          </a:p>
        </p:txBody>
      </p:sp>
    </p:spTree>
    <p:extLst>
      <p:ext uri="{BB962C8B-B14F-4D97-AF65-F5344CB8AC3E}">
        <p14:creationId xmlns:p14="http://schemas.microsoft.com/office/powerpoint/2010/main" val="989689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FD3B97-1FDE-6C7A-B6FB-4B4FAE109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457200"/>
            <a:ext cx="10515600" cy="66675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实施例（阶段 3–4）：计算与下一 Token 提前准备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4597D2D-DD11-DD1D-7F77-75D2026F9D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52550"/>
            <a:ext cx="10515600" cy="52387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预测只决定“提前准备到什么程度”；真正使用哪个 Expert，仍由下一 token 的真实路由结果确认。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5359A-D085-4923-9372-D2D3A6F4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286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14288">
            <a:solidFill>
              <a:srgbClr val="315B72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阶段 3  当前 Expert 计算期间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提前准备下一 token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候选已在高速层：暂不淘汰。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高置信候选在低速层：提前读取整个 Expert。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中等置信候选：只提前打开 DRAM bank/row，或读取 Expert 的首段数据。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置信度越低，提前消耗的带宽越少。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A6FD0-3C7B-4251-B1F0-BF0F586B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11430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14288">
            <a:solidFill>
              <a:srgbClr val="60717C"/>
            </a:solidFill>
            <a:prstDash val="solid"/>
          </a:ln>
        </p:spPr>
        <p:txBody>
          <a:bodyPr xmlns:a="http://schemas.openxmlformats.org/drawingml/2006/main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下一步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78202-A449-46BC-AB17-3D11795A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14288">
            <a:solidFill>
              <a:srgbClr val="444444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阶段 4  下一 Token 的真实路由产生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预测正确且完整权重已到达：立即开始计算。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预测正确但只读了一部分：继续读取剩余数据。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预测错误：停止错误候选的后续传输，并按真实 Expert 重新读取。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控制器统计正确预读与误读字节，限制总预读带宽。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7EF53-004D-401E-9756-BE5E12D8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44444"/>
                </a:solidFill>
              </a:defRPr>
            </a:pPr>
            <a:r>
              <a:rPr sz="1350" b="1">
                <a:solidFill>
                  <a:srgbClr val="444444"/>
                </a:solidFill>
              </a:rPr>
              <a:t>不同介质的“提前准备”不同：DRAM 可提前开行，Flash 可提前读页，多通道内存可提前配置 DMA。</a:t>
            </a:r>
          </a:p>
        </p:txBody>
      </p:sp>
    </p:spTree>
    <p:extLst>
      <p:ext uri="{BB962C8B-B14F-4D97-AF65-F5344CB8AC3E}">
        <p14:creationId xmlns:p14="http://schemas.microsoft.com/office/powerpoint/2010/main" val="989689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5A0D7C1-D201-06E3-69BF-7BFF6A15F5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本发明技术保护点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CDAA592-7CE3-4EBF-7656-01C0D842633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81125"/>
            <a:ext cx="105156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 b="1">
                <a:solidFill>
                  <a:srgbClr val="222222"/>
                </a:solidFill>
              </a:rPr>
              <a:t>1.  面向端侧 MoE 的非对称存储与共享计算架构。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加速器设置小容量高速层和大容量低速层，两层共同向共享计算阵列供数。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高速层保存 Attention、KV Cache 和近期活跃专家；低速层保存当前未激活专家。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 b="1">
                <a:solidFill>
                  <a:srgbClr val="222222"/>
                </a:solidFill>
              </a:rPr>
              <a:t>2.  基于连续路由预测的候选专家提前准备机制。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当前 token 计算期间，由近期注意力输出产生下一 token 的候选专家和置信度。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真实路由产生前，按置信度选择保留驻留、打开存储行、读取首段或完整预取。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 b="1">
                <a:solidFill>
                  <a:srgbClr val="222222"/>
                </a:solidFill>
              </a:rPr>
              <a:t>3.  低速容量层中的专家对象化存储与寻址机制。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低速层以“层号 + 专家号”管理推理期只读权重；等尺寸专家采用固定步长寻址。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变长、压缩或分片专家使用描述符，使驱动能够直接发起专家粒度读取。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 b="1">
                <a:solidFill>
                  <a:srgbClr val="222222"/>
                </a:solidFill>
              </a:rPr>
              <a:t>4.  提前准备与真实路由确认之间的闭环控制机制。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真实路由产生后，控制器复用已准备数据、继续剩余传输或停止错误候选。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6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正确预读字节、误读字节和带宽预算共同约束准备强度，并覆盖多种存储介质。</a:t>
            </a:r>
          </a:p>
        </p:txBody>
      </p:sp>
    </p:spTree>
    <p:extLst>
      <p:ext uri="{BB962C8B-B14F-4D97-AF65-F5344CB8AC3E}">
        <p14:creationId xmlns:p14="http://schemas.microsoft.com/office/powerpoint/2010/main" val="28139071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2B3E12-FAD1-C296-A207-2312F9E8C7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技术效果：结论概览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7D1C07C-155D-BE25-ED2A-4F7D166AE43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52550"/>
            <a:ext cx="10515600" cy="61912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中心工作点：约 20% 高速容量 + 80% 低速容量；高速层 1.5 TB/s，低速层 273 GB/s；项目实测 Expert 驻留率 92.70%；β = 0.5。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4A025-FB3D-41D0-B4CD-7DFE9014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14288">
            <a:solidFill>
              <a:srgbClr val="315B7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相对全高速存储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250" b="0">
                <a:solidFill>
                  <a:srgbClr val="555555"/>
                </a:solidFill>
              </a:defRPr>
            </a:pPr>
            <a:r>
              <a:rPr sz="1250" b="0">
                <a:solidFill>
                  <a:srgbClr val="555555"/>
                </a:solidFill>
              </a:rPr>
              <a:t>完整模型全部位于 1.5 TB/s 高速存储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内存子系统成本降低 53.3%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端到端时延增加 6.9%–10.1%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E4681-D8CB-437D-B22E-BB443C28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14288">
            <a:solidFill>
              <a:srgbClr val="55555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相对全低速存储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250" b="0">
                <a:solidFill>
                  <a:srgbClr val="555555"/>
                </a:solidFill>
              </a:defRPr>
            </a:pPr>
            <a:r>
              <a:rPr sz="1250" b="0">
                <a:solidFill>
                  <a:srgbClr val="555555"/>
                </a:solidFill>
              </a:rPr>
              <a:t>完整模型全部位于 273 GB/s 容量型内存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端到端解码加速 2.95×–3.04×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内存子系统成本增加 40.0%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0907F-2E4D-4320-8AA9-1B812D77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4K–32K context 的差异来自 KV Cache 增长：高速层服务的运行时读取字节由 95.49% 增至 96.95%。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候选 Expert 提前准备的额外收益和误读代价尚未计入上述结果。</a:t>
            </a:r>
          </a:p>
        </p:txBody>
      </p:sp>
    </p:spTree>
    <p:extLst>
      <p:ext uri="{BB962C8B-B14F-4D97-AF65-F5344CB8AC3E}">
        <p14:creationId xmlns:p14="http://schemas.microsoft.com/office/powerpoint/2010/main" val="37965129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B74797C-B275-3FEF-CD17-C9E50B40E6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技术效果：参数来源与模型输入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0FBE822-BA4E-C862-7775-440630C403F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52550"/>
            <a:ext cx="10515600" cy="52387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每个数值都对应公开产品、公开模型结构或本项目实验；下表说明为什么可以把它用于本轮一阶模拟。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F1FC9-7984-45A3-9BBE-E7507373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20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15608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模型输入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ACD99-20CC-4AAE-8F87-8A0247B7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15608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取值与公开来源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8A0F2-70CB-4153-BC8E-E6AD5245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15608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采用理由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757DE-4719-4F22-B82E-A110DDFC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高速层带宽 B_fast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57C91-BE57-44DD-BA0E-3AB18F16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955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1.5 TB/s；Furiosa RNGD：2×HBM3、48 GB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03148-74DE-49EE-A1C9-4A3CDA86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401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证明推理 NPU 的 1.5 TB/s 聚合带宽可实现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AC998-2FE9-45E2-B6AF-D1B8C858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低速层带宽 B_capacity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9ACE9-4DC4-4230-A9AA-31B3AAA0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273 GB/s；Jetson Thor：64/128 GB LPDDR5X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CEDD4-BC8E-4450-810F-5D822A1D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401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代表可承载约 60 GiB 模型的高端边缘容量内存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F6A94-6B1C-468A-97B6-B309CE25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单位容量成本比 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8F608-4740-49FD-A5C0-D5BFA4AE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004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r = 3；NVIDIA Grace：HBM2E 每 GB 成本 &gt; LPDDR5X 的 3 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A850F-BE20-45F4-9C27-8C784B74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401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作为系统级中心值；敏感性范围取 2–4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67D44-6A77-4CA3-BE05-A1792618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高速容量比例 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1D1D3-AA4A-4C9E-B997-7B9C35FC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529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32K：12.04 / 59.87 GiB ≈ 20.1%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F6B60-A27C-4375-ABA6-2C99CE53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52900"/>
            <a:ext cx="401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由 Qwen3-30B-A3B 公开结构与 BF16 容量计算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7D731-4B3A-4C8C-9FEA-B7DFE459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运行字节覆盖率 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1373F-C46B-4F93-8047-D7578AE9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053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95.49%–96.95%；项目驻留率 h = 92.70%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D4E6E-E0E4-445C-9480-4769C73C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05350"/>
            <a:ext cx="401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本项目实测驻留率代入 30B-A3B 同规模结构外推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BEA1BA-52DF-4DEA-B536-CCC0F33E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端到端存储占比 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554A65-9ADC-496B-8F76-0CA214ED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578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β = 0.5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73907-8C3C-4EC9-B417-E5117DF9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57800"/>
            <a:ext cx="401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模拟假设；表示全高速方案中供数占一半时延</a:t>
            </a:r>
          </a:p>
        </p:txBody>
      </p:sp>
    </p:spTree>
    <p:extLst>
      <p:ext uri="{BB962C8B-B14F-4D97-AF65-F5344CB8AC3E}">
        <p14:creationId xmlns:p14="http://schemas.microsoft.com/office/powerpoint/2010/main" val="40228126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16CAA36-3654-A91A-DDA8-EA8D40625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技术效果：时延与成本计算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EA2FCE6-D60E-227F-9E31-19DD9EEB7F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52550"/>
            <a:ext cx="10515600" cy="52387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同一模型与 token 形状下，计算和调度时间在三种方案中相同；差异来自高速层、低速层分别服务多少读取字节。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718E3-C0DE-4CBE-97E5-8ED937B1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509587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14288">
            <a:solidFill>
              <a:srgbClr val="444444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时延模型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内存传输比：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R_mem = ρ + (1−ρ) × B_fast / B_capacity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= 1.14–1.20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端到端相对全高速：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R_e2e = (1−β) + β × R_mem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= 1.069–1.101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→ 时延增加 6.9%–10.1%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全低速相对全高速：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0.5 + 0.5 × 1500/273 = 3.247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→ 分层方案加速 2.95×–3.04×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6124A-BE38-4513-A580-75831B3C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50863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14288">
            <a:solidFill>
              <a:srgbClr val="315B72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成本模型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设低速内存每 GB 成本 =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高速内存每 GB 成本 = r = 3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高速容量占比 f = 20%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相对全低速：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R_cost = f × r + (1−f)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= 0.2×3 + 0.8 = 1.4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→ 内存子系统成本增加 40.0%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相对全高速：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R_cost = 1.4 / 3 = 46.7%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→ 内存子系统成本降低 53.3%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010BF-6058-4B07-8610-ADDC0F74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1019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>
                <a:solidFill>
                  <a:srgbClr val="333333"/>
                </a:solidFill>
              </a:defRPr>
            </a:pPr>
            <a:r>
              <a:rPr sz="1163" b="1">
                <a:solidFill>
                  <a:srgbClr val="333333"/>
                </a:solidFill>
              </a:rPr>
              <a:t>边界：成本仅覆盖存储介质及基础封装。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63" b="1">
                <a:solidFill>
                  <a:srgbClr val="333333"/>
                </a:solidFill>
              </a:defRPr>
            </a:pPr>
            <a:r>
              <a:rPr sz="1163" b="1">
                <a:solidFill>
                  <a:srgbClr val="333333"/>
                </a:solidFill>
              </a:rPr>
              <a:t>控制器、PHY、集成、良率与整机 BOM，需由目标芯片团队标定。</a:t>
            </a:r>
          </a:p>
        </p:txBody>
      </p:sp>
    </p:spTree>
    <p:extLst>
      <p:ext uri="{BB962C8B-B14F-4D97-AF65-F5344CB8AC3E}">
        <p14:creationId xmlns:p14="http://schemas.microsoft.com/office/powerpoint/2010/main" val="37784358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B6F5F1-71B3-5293-752B-75612C947A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专利价值说明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C2124A2-F93F-8530-24AA-AE4EBA809E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33500"/>
            <a:ext cx="10515600" cy="49530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专利价值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1.  系统/装置类价值：</a:t>
            </a:r>
            <a:r>
              <a:rPr sz="1350">
                <a:solidFill>
                  <a:srgbClr val="222222"/>
                </a:solidFill>
              </a:rPr>
              <a:t>形成面向端侧 batch-1 MoE 的专用存储加速器边界，将共享计算阵列、小容量高速存储、大容量低速存储以及 Expert 粒度控制器组合为可落地的芯片或计算模组。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2.  方法类价值：</a:t>
            </a:r>
            <a:r>
              <a:rPr sz="1350">
                <a:solidFill>
                  <a:srgbClr val="222222"/>
                </a:solidFill>
              </a:rPr>
              <a:t>保护从连续路由状态产生下一 token 候选、按置信度提前准备存储介质、再由真实路由结果决定复用、继续或停止传输的完整执行方法。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3.  架构平台类价值：</a:t>
            </a:r>
            <a:r>
              <a:rPr sz="1350">
                <a:solidFill>
                  <a:srgbClr val="222222"/>
                </a:solidFill>
              </a:rPr>
              <a:t>同一控制协议可映射到 HBM、DDR/LPDDR、宽接口 DRAM 或 Flash，使算法能力能够沉淀到驱动、固件、内存控制器和后续多代端侧芯片平台。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6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商业价值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4.  增强AI训练与推理芯片产品竞争力：</a:t>
            </a:r>
            <a:r>
              <a:rPr sz="1350">
                <a:solidFill>
                  <a:srgbClr val="222222"/>
                </a:solidFill>
              </a:rPr>
              <a:t>在约 20% 高速容量的中心配置下，以明显低于全高速存储的内存成本获得接近全高速的推理时延，为手机、车机和个人电脑提供可销售的端侧大模型差异化能力。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5.  形成面向忧伤演进趋势的前瞻布局：</a:t>
            </a:r>
            <a:r>
              <a:rPr sz="1350">
                <a:solidFill>
                  <a:srgbClr val="222222"/>
                </a:solidFill>
              </a:rPr>
              <a:t>提前布局大参数、低激活 MoE 在个人设备上的常态化部署，并把项目算法形成的路由连续性转化为芯片可利用、竞争者难以仅靠通用缓存替代的硬件能力。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6.  支撑AI加速的精度-成本平衡。：</a:t>
            </a:r>
            <a:r>
              <a:rPr sz="1350">
                <a:solidFill>
                  <a:srgbClr val="222222"/>
                </a:solidFill>
              </a:rPr>
              <a:t>不改变模型精度和 Expert 计算，仅重分配存储容量与带宽；芯片厂商可以在高速容量、低速容量、功耗与目标 token latency 之间形成可配置产品梯度。</a:t>
            </a:r>
          </a:p>
        </p:txBody>
      </p:sp>
    </p:spTree>
    <p:extLst>
      <p:ext uri="{BB962C8B-B14F-4D97-AF65-F5344CB8AC3E}">
        <p14:creationId xmlns:p14="http://schemas.microsoft.com/office/powerpoint/2010/main" val="393384553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C176102-5B43-95D1-EB9E-4BABCB95BF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可发现性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7F10B5D-388C-6B34-87E1-569E20F1913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428750"/>
            <a:ext cx="105156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1.  公开资料与专利文本：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白皮书、MoE 优化指南、驱动手册或后续专利，通常需要说明两类存储和专家粒度映射。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还会出现下一 token 候选及真实路由前预取，可检索 continuous routing、expert prediction 等。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2.  硬件接口、编译器与运行时痕迹：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模型包或驱动需要表达层号、专家号、对象地址、候选顺序、置信度、预读深度和有效期。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固件或寄存器会暴露候选提交、预读比例、驻留查询和停止候选等功能。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3.  profiling与黑盒行为特征：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真实路由尚未产生时，容量层已出现存储行激活、首段读取、闪存页读取或对象搬运。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预测命中时专家等待降低；扰乱连续路由后误读字节上升，区别于真实未命中后的普通加载。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4.  最有价值的证据类型：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组合驱动或固件反汇编、公开 API、寄存器说明、内存总线 trace 和命中/扰乱实验。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6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同时证明“路由前已有专家读取”和“路由后选择继续或停止”，即可形成闭环证据链。</a:t>
            </a:r>
          </a:p>
        </p:txBody>
      </p:sp>
    </p:spTree>
    <p:extLst>
      <p:ext uri="{BB962C8B-B14F-4D97-AF65-F5344CB8AC3E}">
        <p14:creationId xmlns:p14="http://schemas.microsoft.com/office/powerpoint/2010/main" val="249558844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4B8BA42-DB85-1ACE-050C-2C3ED1229D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本发明的可规避性和上位保护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7C90DD8-1B38-1D8F-7AB6-32BC505AEDA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52550"/>
            <a:ext cx="10515600" cy="4953000"/>
          </a:xfrm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潜在可规避方式：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1.  硬件定义规避：</a:t>
            </a:r>
            <a:r>
              <a:rPr sz="1238">
                <a:solidFill>
                  <a:srgbClr val="222222"/>
                </a:solidFill>
              </a:rPr>
              <a:t>不称为高速/低速存储，而称为缓存、暂存区、模型仓或不同 memory pool；或者只提前开 DRAM 行，不完整搬运 Expert。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2.  判别信号规避：</a:t>
            </a:r>
            <a:r>
              <a:rPr sz="1238">
                <a:solidFill>
                  <a:srgbClr val="222222"/>
                </a:solidFill>
              </a:rPr>
              <a:t>候选来自编译器、运行时、独立预测器或其他路由统计，不直接使用 Attention-Mean 名称。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3.  输出动作规避：</a:t>
            </a:r>
            <a:r>
              <a:rPr sz="1238">
                <a:solidFill>
                  <a:srgbClr val="222222"/>
                </a:solidFill>
              </a:rPr>
              <a:t>只执行驻留延长、请求排队、首段读取或 DMA 描述符准备，不使用“预激活/预取”名称。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4.  适用对象与物理位置规避：</a:t>
            </a:r>
            <a:r>
              <a:rPr sz="1238">
                <a:solidFill>
                  <a:srgbClr val="222222"/>
                </a:solidFill>
              </a:rPr>
              <a:t>Expert 采用变长、压缩或分片格式；候选控制器放在编译器、固件、内存控制器或独立芯粒中。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5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上位保护建议：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5.  硬件机制上位化：</a:t>
            </a:r>
            <a:r>
              <a:rPr sz="1238">
                <a:solidFill>
                  <a:srgbClr val="222222"/>
                </a:solidFill>
              </a:rPr>
              <a:t>保护容量不同、服务带宽不同且共同向共享计算阵列供数的至少两类存储资源，并覆盖真实路由确认前的任意介质准备。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6.  判据信号上位化：</a:t>
            </a:r>
            <a:r>
              <a:rPr sz="1238">
                <a:solidFill>
                  <a:srgbClr val="222222"/>
                </a:solidFill>
              </a:rPr>
              <a:t>保护由跨 token 路由连续性或历史激活状态产生候选及优先级，不限定具体算法名称与部署位置。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7.  执行动作上位化：</a:t>
            </a:r>
            <a:r>
              <a:rPr sz="1238">
                <a:solidFill>
                  <a:srgbClr val="222222"/>
                </a:solidFill>
              </a:rPr>
              <a:t>覆盖保留驻留、队列登记、bank/row 激活、部分读取、完整读取，以及真实路由后的复用、继续或停止。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8.  核心组合保护：</a:t>
            </a:r>
            <a:r>
              <a:rPr sz="1238">
                <a:solidFill>
                  <a:srgbClr val="222222"/>
                </a:solidFill>
              </a:rPr>
              <a:t>以“候选产生—Expert 粒度寻址—真实路由前准备—真实路由后确认”的数据对象和时序关系定义核心权利要求。</a:t>
            </a:r>
          </a:p>
        </p:txBody>
      </p:sp>
    </p:spTree>
    <p:extLst>
      <p:ext uri="{BB962C8B-B14F-4D97-AF65-F5344CB8AC3E}">
        <p14:creationId xmlns:p14="http://schemas.microsoft.com/office/powerpoint/2010/main" val="7665661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240A7C-63A9-3E6F-9F88-DBEA6D3502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对比文件检索情况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272CD72-8CF6-B8B0-2C4B-1275CA251E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428750"/>
            <a:ext cx="105156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 b="1">
                <a:solidFill>
                  <a:srgbClr val="222222"/>
                </a:solidFill>
              </a:rPr>
              <a:t>【英文检索式 1：连续路由预测 + Expert 预取】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</a:rPr>
              <a:t>("mixture of experts" OR MoE) AND (("next token" OR successive-token) NEAR/5 (expert OR routing)) AND (predict* OR candidate OR confidence) AND (prefetch* OR preactivat* OR staging)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 b="1">
                <a:solidFill>
                  <a:srgbClr val="222222"/>
                </a:solidFill>
              </a:rPr>
              <a:t>【英文检索式 2：Expert 对象化寻址 + 分层存储】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</a:rPr>
              <a:t>("mixture of experts" OR MoE) AND (("expert object" OR "expert weight") NEAR/5 (address* OR descriptor OR "fixed stride")) AND ("tiered memory" OR "hierarchical memory" OR "heterogeneous memory")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 b="1">
                <a:solidFill>
                  <a:srgbClr val="222222"/>
                </a:solidFill>
              </a:rPr>
              <a:t>【英文检索式 3：真实路由前准备 + 路由后确认】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</a:rPr>
              <a:t>(router OR gating) AND ((memory OR DRAM OR HBM OR LPDDR OR flash) NEAR/5 (activate OR prefetch OR "partial read")) AND (commit OR continue OR cancel) AND (expert OR MoE)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 b="1">
                <a:solidFill>
                  <a:srgbClr val="222222"/>
                </a:solidFill>
              </a:rPr>
              <a:t>【中文检索式】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</a:rPr>
              <a:t>(混合专家 OR 专家混合 OR MoE) AND (下一令牌 OR 相邻令牌 OR 连续路由) AND (候选专家 OR 专家预测) AND (分层存储 OR 异构存储) AND (预激活 OR 预取 OR 部分读取 OR 提交 OR 取消)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 b="1">
                <a:solidFill>
                  <a:srgbClr val="222222"/>
                </a:solidFill>
              </a:rPr>
              <a:t>检索说明：</a:t>
            </a:r>
            <a:r>
              <a:rPr sz="1313">
                <a:solidFill>
                  <a:srgbClr val="222222"/>
                </a:solidFill>
              </a:rPr>
              <a:t>Google Patents 可保留引号、括号、AND/OR 并将 NEAR 条件拆为多组词；WIPO Patentscope、Orbit 等支持邻近算符时可直接使用 NEAR/n。检索重点是四组特征同时出现，而不是分别检索两级存储或 Expert 预测。</a:t>
            </a:r>
          </a:p>
        </p:txBody>
      </p:sp>
    </p:spTree>
    <p:extLst>
      <p:ext uri="{BB962C8B-B14F-4D97-AF65-F5344CB8AC3E}">
        <p14:creationId xmlns:p14="http://schemas.microsoft.com/office/powerpoint/2010/main" val="126324845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5D631A3-A9DE-3A92-A594-F6D8AB6638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在先公开文件</a:t>
            </a:r>
          </a:p>
        </p:txBody>
      </p:sp>
      <p:graphicFrame>
        <p:nvGraphicFramePr>
          <p:cNvPr id="5" name="内容占位符 3"/>
          <p:cNvGraphicFramePr/>
          <p:nvPr/>
        </p:nvGraphicFramePr>
        <p:xfrm>
          <a:off xmlns:a="http://schemas.openxmlformats.org/drawingml/2006/main" x="838200" y="1809750"/>
          <a:ext xmlns:a="http://schemas.openxmlformats.org/drawingml/2006/main" cx="10515600" cy="385762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38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序号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专利/文献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公开日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核心内容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与本方案的关系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1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US20250356164A1</a:t>
                      </a:r>
                      <a:endParaRPr/>
                    </a:p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Intel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2025-11-20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AI PC full/partial hot expert buffer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未见候选驱动的介质预激活与提交时序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US11893502B2</a:t>
                      </a:r>
                      <a:endParaRPr/>
                    </a:p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AMD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2024-02-06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按优先级选择硬件执行 expert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处理当前 expert；未见下一 token 候选介质操作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3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US20240086682A1</a:t>
                      </a:r>
                      <a:endParaRPr/>
                    </a:p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IBM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2024-03-14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3D compute-in-memory tiers 保存 MoE experts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覆盖 MoE + 多层 CIM，物理计算位置不同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US20250190755A1</a:t>
                      </a:r>
                      <a:endParaRPr/>
                    </a:p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IBM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2025-06-12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PIM router 与近存 MoE 路由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覆盖路由/存储侧执行，不同于共享阵列分层供数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5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US20210398597A1</a:t>
                      </a:r>
                      <a:endParaRPr/>
                    </a:p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Samsung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2021-12-23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PIM bank 与 non-PIM bank 共存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证明异构 bank 先例，未绑定端侧 MoE working set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6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US11983619B2</a:t>
                      </a:r>
                      <a:endParaRPr/>
                    </a:p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Micron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2024-05-14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memory device 内执行 Transformer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覆盖通用 Transformer-in-memory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7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Tiered-Latency DRAM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2018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DRAM 快慢 segment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快慢层本身为公知；组合闭环是保护重点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51429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18BF918-0E66-2059-3E8A-AE9044599F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专利创新性 1：区别于 Expert 执行硬件选择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DBF5B5B-E4F7-1792-ECDB-800F54F975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428750"/>
            <a:ext cx="49530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对比文件：AMD US11893502B2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Hardware device selection for execution of expert networks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现有方案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当前 Expert 请求到达后，依据优先级、设备可用性和执行参数选择执行硬件。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本发明差异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Attention-Mean 连续路由提前生成下一 token 候选及置信度；驱动在真实路由确认前，决定暂不淘汰候选、提前打开存储行、读取首段或完整读取 Expert。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关键时序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先产生候选并准备数据 → 再得到真实路由 → 最后复用、继续或停止传输。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1761c72d2400b"/>
          <a:stretch xmlns:a="http://schemas.openxmlformats.org/drawingml/2006/main"/>
        </p:blipFill>
        <p:spPr>
          <a:xfrm xmlns:a="http://schemas.openxmlformats.org/drawingml/2006/main">
            <a:off x="7206952" y="1619250"/>
            <a:ext cx="2921596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80272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89A9D02-85CC-20CF-1B2B-57FE6BA4FE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专利创新性 2：区别于 3D Compute-in-Memory MoE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EB803C3-3822-C166-6BC6-0B199C526D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428750"/>
            <a:ext cx="49530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对比文件：IBM US20240086682A1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Mixture of experts in three-dimensional compute-in-memory tiers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现有方案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在 3D CIM tiers 中保存并执行 MoE experts，强调 expert 与存内计算 tile 的物理组合。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本发明差异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容量介质保存可寻址的只读 expert objects；连续路由候选直接驱动介质预激活和分级预读，计算仍由共享核心阵列完成。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保护重点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候选、对象地址、介质准备和真实路由提交之间的控制闭环。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be2f66750419d"/>
          <a:stretch xmlns:a="http://schemas.openxmlformats.org/drawingml/2006/main"/>
        </p:blipFill>
        <p:spPr>
          <a:xfrm xmlns:a="http://schemas.openxmlformats.org/drawingml/2006/main">
            <a:off x="7116096" y="1571625"/>
            <a:ext cx="3103308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1948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4CD119-0FC4-5465-B570-A40A52FAF5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专利创新性 3：区别于 PIM / non-PIM 异构 Bank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06AC57A-2241-875D-EF99-1CFEFC2250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428750"/>
            <a:ext cx="49530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对比文件：Samsung US20210398597A1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Memory device including PIM bank group and non-PIM bank group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现有方案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在同一 memory device 中并置 PIM bank group 与 non-PIM bank group，并由控制电路选择。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本发明差异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候选 expert 置信度决定 bank/row activation、首段 burst 或完整 object DMA 的准备深度；真实路由结果再决定提交、继续或取消。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保护重点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跨 DRAM、HBM、LPDDR 和 Flash 的等价介质准备动作，不依赖 PIM bank。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6ddc4ced1469d"/>
          <a:stretch xmlns:a="http://schemas.openxmlformats.org/drawingml/2006/main"/>
        </p:blipFill>
        <p:spPr>
          <a:xfrm xmlns:a="http://schemas.openxmlformats.org/drawingml/2006/main">
            <a:off x="6785744" y="1762125"/>
            <a:ext cx="3668761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6222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2026-08-31T15:11:46.7010000Z</dcterms:created>
  <dcterms:modified xsi:type="dcterms:W3CDTF">2026-08-31T15:11:46.7010000Z</dcterms:modified>
</coreProperties>
</file>